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Lora Medium"/>
      <p:regular r:id="rId26"/>
      <p:bold r:id="rId27"/>
      <p:italic r:id="rId28"/>
      <p:boldItalic r:id="rId29"/>
    </p:embeddedFont>
    <p:embeddedFont>
      <p:font typeface="Play"/>
      <p:regular r:id="rId30"/>
      <p:bold r:id="rId31"/>
    </p:embeddedFont>
    <p:embeddedFont>
      <p:font typeface="Roboto"/>
      <p:regular r:id="rId32"/>
      <p:bold r:id="rId33"/>
      <p:italic r:id="rId34"/>
      <p:boldItalic r:id="rId35"/>
    </p:embeddedFont>
    <p:embeddedFont>
      <p:font typeface="Caveat"/>
      <p:regular r:id="rId36"/>
      <p:bold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LoraMedium-regular.fntdata"/><Relationship Id="rId25" Type="http://schemas.openxmlformats.org/officeDocument/2006/relationships/slide" Target="slides/slide19.xml"/><Relationship Id="rId28" Type="http://schemas.openxmlformats.org/officeDocument/2006/relationships/font" Target="fonts/LoraMedium-italic.fntdata"/><Relationship Id="rId27" Type="http://schemas.openxmlformats.org/officeDocument/2006/relationships/font" Target="fonts/LoraMedium-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LoraMedium-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ay-bold.fntdata"/><Relationship Id="rId30" Type="http://schemas.openxmlformats.org/officeDocument/2006/relationships/font" Target="fonts/Play-regular.fntdata"/><Relationship Id="rId11" Type="http://schemas.openxmlformats.org/officeDocument/2006/relationships/slide" Target="slides/slide5.xml"/><Relationship Id="rId33" Type="http://schemas.openxmlformats.org/officeDocument/2006/relationships/font" Target="fonts/Roboto-bold.fntdata"/><Relationship Id="rId10" Type="http://schemas.openxmlformats.org/officeDocument/2006/relationships/slide" Target="slides/slide4.xml"/><Relationship Id="rId32" Type="http://schemas.openxmlformats.org/officeDocument/2006/relationships/font" Target="fonts/Roboto-regular.fntdata"/><Relationship Id="rId13" Type="http://schemas.openxmlformats.org/officeDocument/2006/relationships/slide" Target="slides/slide7.xml"/><Relationship Id="rId35" Type="http://schemas.openxmlformats.org/officeDocument/2006/relationships/font" Target="fonts/Roboto-boldItalic.fntdata"/><Relationship Id="rId12" Type="http://schemas.openxmlformats.org/officeDocument/2006/relationships/slide" Target="slides/slide6.xml"/><Relationship Id="rId34" Type="http://schemas.openxmlformats.org/officeDocument/2006/relationships/font" Target="fonts/Roboto-italic.fntdata"/><Relationship Id="rId15" Type="http://schemas.openxmlformats.org/officeDocument/2006/relationships/slide" Target="slides/slide9.xml"/><Relationship Id="rId37" Type="http://schemas.openxmlformats.org/officeDocument/2006/relationships/font" Target="fonts/Caveat-bold.fntdata"/><Relationship Id="rId14" Type="http://schemas.openxmlformats.org/officeDocument/2006/relationships/slide" Target="slides/slide8.xml"/><Relationship Id="rId36" Type="http://schemas.openxmlformats.org/officeDocument/2006/relationships/font" Target="fonts/Caveat-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Mitral_cell#cite_note-1" TargetMode="External"/><Relationship Id="rId3" Type="http://schemas.openxmlformats.org/officeDocument/2006/relationships/hyperlink" Target="https://en.wikipedia.org/wiki/Mitral_cell#cite_note-2" TargetMode="External"/><Relationship Id="rId4" Type="http://schemas.openxmlformats.org/officeDocument/2006/relationships/hyperlink" Target="https://en.wikipedia.org/wiki/Action_potential" TargetMode="External"/><Relationship Id="rId5" Type="http://schemas.openxmlformats.org/officeDocument/2006/relationships/hyperlink" Target="https://en.wikipedia.org/wiki/Dynamical_system"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81c8b5928_7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f81c8b5928_7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81c8b5928_7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3A4F66"/>
                </a:solidFill>
                <a:highlight>
                  <a:srgbClr val="FAFBFC"/>
                </a:highlight>
                <a:latin typeface="Roboto"/>
                <a:ea typeface="Roboto"/>
                <a:cs typeface="Roboto"/>
                <a:sym typeface="Roboto"/>
              </a:rPr>
              <a:t>(1).The somas of the primary afferent neurons occupy a surface epithelium. (2).The axons of the primary afferents enter the cerebral cortex directly; second-order afferents are not interposed. (3).The primary afferent neurons undergo continuous turnover, being replaced from basal stem cells. (4).The pathway to the cortical centres in the frontal lobe is entirely ipsilateral.</a:t>
            </a:r>
            <a:endParaRPr sz="1200">
              <a:solidFill>
                <a:srgbClr val="3A4F66"/>
              </a:solidFill>
              <a:highlight>
                <a:srgbClr val="FAFBFC"/>
              </a:highlight>
              <a:latin typeface="Roboto"/>
              <a:ea typeface="Roboto"/>
              <a:cs typeface="Roboto"/>
              <a:sym typeface="Roboto"/>
            </a:endParaRPr>
          </a:p>
          <a:p>
            <a:pPr indent="0" lvl="0" marL="0" rtl="0" algn="l">
              <a:lnSpc>
                <a:spcPct val="115000"/>
              </a:lnSpc>
              <a:spcBef>
                <a:spcPts val="1800"/>
              </a:spcBef>
              <a:spcAft>
                <a:spcPts val="0"/>
              </a:spcAft>
              <a:buClr>
                <a:schemeClr val="dk1"/>
              </a:buClr>
              <a:buSzPts val="1100"/>
              <a:buFont typeface="Arial"/>
              <a:buNone/>
            </a:pPr>
            <a:r>
              <a:rPr lang="en" sz="1200">
                <a:solidFill>
                  <a:srgbClr val="3A4F66"/>
                </a:solidFill>
                <a:highlight>
                  <a:srgbClr val="FAFBFC"/>
                </a:highlight>
                <a:latin typeface="Roboto"/>
                <a:ea typeface="Roboto"/>
                <a:cs typeface="Roboto"/>
                <a:sym typeface="Roboto"/>
              </a:rPr>
              <a:t>The olfactory system consists of the olfactory epithelium and olfactory nerves, the olfactory bulb and tract, and several areas of the olfactory cortex.</a:t>
            </a:r>
            <a:endParaRPr sz="1200">
              <a:solidFill>
                <a:srgbClr val="3A4F66"/>
              </a:solidFill>
              <a:highlight>
                <a:srgbClr val="FAFBFC"/>
              </a:highlight>
              <a:latin typeface="Roboto"/>
              <a:ea typeface="Roboto"/>
              <a:cs typeface="Roboto"/>
              <a:sym typeface="Roboto"/>
            </a:endParaRPr>
          </a:p>
          <a:p>
            <a:pPr indent="0" lvl="0" marL="0" rtl="0" algn="l">
              <a:lnSpc>
                <a:spcPct val="115000"/>
              </a:lnSpc>
              <a:spcBef>
                <a:spcPts val="1800"/>
              </a:spcBef>
              <a:spcAft>
                <a:spcPts val="0"/>
              </a:spcAft>
              <a:buClr>
                <a:schemeClr val="dk1"/>
              </a:buClr>
              <a:buSzPts val="1100"/>
              <a:buFont typeface="Arial"/>
              <a:buNone/>
            </a:pPr>
            <a:r>
              <a:rPr lang="en" sz="1200">
                <a:solidFill>
                  <a:srgbClr val="3A4F66"/>
                </a:solidFill>
                <a:highlight>
                  <a:srgbClr val="FAFBFC"/>
                </a:highlight>
                <a:latin typeface="Roboto"/>
                <a:ea typeface="Roboto"/>
                <a:cs typeface="Roboto"/>
                <a:sym typeface="Roboto"/>
              </a:rPr>
              <a:t>Contact between olfactory fibres and mitral cell dendrites takes place in some 2000 </a:t>
            </a:r>
            <a:r>
              <a:rPr b="1" i="1" lang="en" sz="1200">
                <a:solidFill>
                  <a:srgbClr val="3A4F66"/>
                </a:solidFill>
                <a:highlight>
                  <a:srgbClr val="FAFBFC"/>
                </a:highlight>
                <a:latin typeface="Roboto"/>
                <a:ea typeface="Roboto"/>
                <a:cs typeface="Roboto"/>
                <a:sym typeface="Roboto"/>
              </a:rPr>
              <a:t>glomeruli </a:t>
            </a:r>
            <a:r>
              <a:rPr lang="en" sz="1200">
                <a:solidFill>
                  <a:srgbClr val="3A4F66"/>
                </a:solidFill>
                <a:highlight>
                  <a:srgbClr val="FAFBFC"/>
                </a:highlight>
                <a:latin typeface="Roboto"/>
                <a:ea typeface="Roboto"/>
                <a:cs typeface="Roboto"/>
                <a:sym typeface="Roboto"/>
              </a:rPr>
              <a:t>, which are sites of innumerable synapses and have a glial investment, but each receives its input from sensory neurons that respond to the same stimulus ( </a:t>
            </a:r>
            <a:r>
              <a:rPr i="1" lang="en" sz="1200">
                <a:solidFill>
                  <a:srgbClr val="3A4F66"/>
                </a:solidFill>
                <a:highlight>
                  <a:srgbClr val="FAFBFC"/>
                </a:highlight>
                <a:latin typeface="Roboto"/>
                <a:ea typeface="Roboto"/>
                <a:cs typeface="Roboto"/>
                <a:sym typeface="Roboto"/>
              </a:rPr>
              <a:t>odorant</a:t>
            </a:r>
            <a:r>
              <a:rPr lang="en" sz="1200">
                <a:solidFill>
                  <a:srgbClr val="3A4F66"/>
                </a:solidFill>
                <a:highlight>
                  <a:srgbClr val="FAFBFC"/>
                </a:highlight>
                <a:latin typeface="Roboto"/>
                <a:ea typeface="Roboto"/>
                <a:cs typeface="Roboto"/>
                <a:sym typeface="Roboto"/>
              </a:rPr>
              <a:t> ). Glomeruli that are ‘on-line’ (active) inhibit neighbouring, ‘off-line’ glomeruli through the mediation of γ-aminobutyric acid (GABA)ergic </a:t>
            </a:r>
            <a:r>
              <a:rPr b="1" i="1" lang="en" sz="1200">
                <a:solidFill>
                  <a:srgbClr val="3A4F66"/>
                </a:solidFill>
                <a:highlight>
                  <a:srgbClr val="FAFBFC"/>
                </a:highlight>
                <a:latin typeface="Roboto"/>
                <a:ea typeface="Roboto"/>
                <a:cs typeface="Roboto"/>
                <a:sym typeface="Roboto"/>
              </a:rPr>
              <a:t>periglomerular cells </a:t>
            </a:r>
            <a:r>
              <a:rPr lang="en" sz="1200">
                <a:solidFill>
                  <a:srgbClr val="3A4F66"/>
                </a:solidFill>
                <a:highlight>
                  <a:srgbClr val="FAFBFC"/>
                </a:highlight>
                <a:latin typeface="Roboto"/>
                <a:ea typeface="Roboto"/>
                <a:cs typeface="Roboto"/>
                <a:sym typeface="Roboto"/>
              </a:rPr>
              <a:t>(cf. the horizontal cells of the retina), representing an initial stage of signal (specific odour) processing. Mitral cell activity is also sharpened at a deeper level by </a:t>
            </a:r>
            <a:r>
              <a:rPr b="1" i="1" lang="en" sz="1200">
                <a:solidFill>
                  <a:srgbClr val="3A4F66"/>
                </a:solidFill>
                <a:highlight>
                  <a:srgbClr val="FAFBFC"/>
                </a:highlight>
                <a:latin typeface="Roboto"/>
                <a:ea typeface="Roboto"/>
                <a:cs typeface="Roboto"/>
                <a:sym typeface="Roboto"/>
              </a:rPr>
              <a:t>granule cells </a:t>
            </a:r>
            <a:r>
              <a:rPr lang="en" sz="1200">
                <a:solidFill>
                  <a:srgbClr val="3A4F66"/>
                </a:solidFill>
                <a:highlight>
                  <a:srgbClr val="FAFBFC"/>
                </a:highlight>
                <a:latin typeface="Roboto"/>
                <a:ea typeface="Roboto"/>
                <a:cs typeface="Roboto"/>
                <a:sym typeface="Roboto"/>
              </a:rPr>
              <a:t>that are devoid of axons (cf. the amacrine cells of the retina), representing the next stage of signal processing and contrast enhancement between mitral cells. The granule cells receive excitatory dendrodendritic contacts from active mitral cells, and they suppress neighbouring mitral cells through inhibitory (GABA) dendrodendritic contacts.</a:t>
            </a:r>
            <a:endParaRPr sz="1200">
              <a:solidFill>
                <a:srgbClr val="3A4F66"/>
              </a:solidFill>
              <a:highlight>
                <a:srgbClr val="FAFBFC"/>
              </a:highlight>
              <a:latin typeface="Roboto"/>
              <a:ea typeface="Roboto"/>
              <a:cs typeface="Roboto"/>
              <a:sym typeface="Roboto"/>
            </a:endParaRPr>
          </a:p>
          <a:p>
            <a:pPr indent="0" lvl="0" marL="0" rtl="0" algn="l">
              <a:lnSpc>
                <a:spcPct val="115000"/>
              </a:lnSpc>
              <a:spcBef>
                <a:spcPts val="1800"/>
              </a:spcBef>
              <a:spcAft>
                <a:spcPts val="0"/>
              </a:spcAft>
              <a:buClr>
                <a:schemeClr val="dk1"/>
              </a:buClr>
              <a:buSzPts val="1100"/>
              <a:buFont typeface="Arial"/>
              <a:buNone/>
            </a:pPr>
            <a:r>
              <a:rPr lang="en" sz="1200">
                <a:solidFill>
                  <a:srgbClr val="202122"/>
                </a:solidFill>
                <a:highlight>
                  <a:srgbClr val="FFFFFF"/>
                </a:highlight>
              </a:rPr>
              <a:t> Mitral cell output is not a passive reflection of their input from the olfactory nerve. In mice, each mitral cell sends a single primary dendrite into a glomerulus receiving input from a population of olfactory sensory neurons expressing identical olfactory receptor proteins, yet the odor responsiveness of the 20-40 mitral cells connected to a single glomerulus (called sister mitral cells)</a:t>
            </a:r>
            <a:r>
              <a:rPr baseline="30000" lang="en" sz="1600">
                <a:solidFill>
                  <a:srgbClr val="3366CC"/>
                </a:solidFill>
                <a:highlight>
                  <a:srgbClr val="FFFFFF"/>
                </a:highlight>
                <a:uFill>
                  <a:noFill/>
                </a:uFill>
                <a:hlinkClick r:id="rId2">
                  <a:extLst>
                    <a:ext uri="{A12FA001-AC4F-418D-AE19-62706E023703}">
                      <ahyp:hlinkClr val="tx"/>
                    </a:ext>
                  </a:extLst>
                </a:hlinkClick>
              </a:rPr>
              <a:t>[1]</a:t>
            </a:r>
            <a:r>
              <a:rPr lang="en" sz="1200">
                <a:solidFill>
                  <a:srgbClr val="202122"/>
                </a:solidFill>
                <a:highlight>
                  <a:srgbClr val="FFFFFF"/>
                </a:highlight>
              </a:rPr>
              <a:t> is not identical to the tuning curve of the input cells, and also differs between sister mitral cells.</a:t>
            </a:r>
            <a:r>
              <a:rPr baseline="30000" lang="en" sz="1600">
                <a:solidFill>
                  <a:srgbClr val="3366CC"/>
                </a:solidFill>
                <a:highlight>
                  <a:srgbClr val="FFFFFF"/>
                </a:highlight>
                <a:uFill>
                  <a:noFill/>
                </a:uFill>
                <a:hlinkClick r:id="rId3">
                  <a:extLst>
                    <a:ext uri="{A12FA001-AC4F-418D-AE19-62706E023703}">
                      <ahyp:hlinkClr val="tx"/>
                    </a:ext>
                  </a:extLst>
                </a:hlinkClick>
              </a:rPr>
              <a:t>[2]</a:t>
            </a:r>
            <a:r>
              <a:rPr lang="en" sz="1200">
                <a:solidFill>
                  <a:srgbClr val="202122"/>
                </a:solidFill>
                <a:highlight>
                  <a:srgbClr val="FFFFFF"/>
                </a:highlight>
              </a:rPr>
              <a:t> Odorant response properties of individual neurons in an olfactory glomerular module. The exact type of processing that mitral cells perform with their inputs is still a matter of controversy. One prominent hypothesis is that mitral cells encode the strength of an olfactory input into their </a:t>
            </a:r>
            <a:r>
              <a:rPr lang="en" sz="1200">
                <a:solidFill>
                  <a:srgbClr val="3366CC"/>
                </a:solidFill>
                <a:highlight>
                  <a:srgbClr val="FFFFFF"/>
                </a:highlight>
                <a:uFill>
                  <a:noFill/>
                </a:uFill>
                <a:hlinkClick r:id="rId4">
                  <a:extLst>
                    <a:ext uri="{A12FA001-AC4F-418D-AE19-62706E023703}">
                      <ahyp:hlinkClr val="tx"/>
                    </a:ext>
                  </a:extLst>
                </a:hlinkClick>
              </a:rPr>
              <a:t>firing</a:t>
            </a:r>
            <a:r>
              <a:rPr lang="en" sz="1200">
                <a:solidFill>
                  <a:srgbClr val="202122"/>
                </a:solidFill>
                <a:highlight>
                  <a:srgbClr val="FFFFFF"/>
                </a:highlight>
              </a:rPr>
              <a:t> phases relative to the sniff cycle. A second hypothesis is that the olfactory bulb network acts as a </a:t>
            </a:r>
            <a:r>
              <a:rPr lang="en" sz="1200">
                <a:solidFill>
                  <a:srgbClr val="3366CC"/>
                </a:solidFill>
                <a:highlight>
                  <a:srgbClr val="FFFFFF"/>
                </a:highlight>
                <a:uFill>
                  <a:noFill/>
                </a:uFill>
                <a:hlinkClick r:id="rId5">
                  <a:extLst>
                    <a:ext uri="{A12FA001-AC4F-418D-AE19-62706E023703}">
                      <ahyp:hlinkClr val="tx"/>
                    </a:ext>
                  </a:extLst>
                </a:hlinkClick>
              </a:rPr>
              <a:t>dynamical system</a:t>
            </a:r>
            <a:r>
              <a:rPr lang="en" sz="1200">
                <a:solidFill>
                  <a:srgbClr val="202122"/>
                </a:solidFill>
                <a:highlight>
                  <a:srgbClr val="FFFFFF"/>
                </a:highlight>
              </a:rPr>
              <a:t> that decorrelates to differentiate between representations of highly similar odorants over time</a:t>
            </a:r>
            <a:endParaRPr sz="1200">
              <a:solidFill>
                <a:srgbClr val="3A4F66"/>
              </a:solidFill>
              <a:highlight>
                <a:srgbClr val="FAFBFC"/>
              </a:highlight>
              <a:latin typeface="Roboto"/>
              <a:ea typeface="Roboto"/>
              <a:cs typeface="Roboto"/>
              <a:sym typeface="Roboto"/>
            </a:endParaRPr>
          </a:p>
          <a:p>
            <a:pPr indent="0" lvl="0" marL="0" rtl="0" algn="l">
              <a:lnSpc>
                <a:spcPct val="115000"/>
              </a:lnSpc>
              <a:spcBef>
                <a:spcPts val="18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A4F66"/>
              </a:solidFill>
              <a:highlight>
                <a:srgbClr val="FAFBFC"/>
              </a:highlight>
              <a:latin typeface="Roboto"/>
              <a:ea typeface="Roboto"/>
              <a:cs typeface="Roboto"/>
              <a:sym typeface="Roboto"/>
            </a:endParaRPr>
          </a:p>
          <a:p>
            <a:pPr indent="0" lvl="0" marL="0" rtl="0" algn="l">
              <a:spcBef>
                <a:spcPts val="1800"/>
              </a:spcBef>
              <a:spcAft>
                <a:spcPts val="0"/>
              </a:spcAft>
              <a:buNone/>
            </a:pPr>
            <a:r>
              <a:t/>
            </a:r>
            <a:endParaRPr/>
          </a:p>
        </p:txBody>
      </p:sp>
      <p:sp>
        <p:nvSpPr>
          <p:cNvPr id="159" name="Google Shape;159;g3f81c8b5928_7_8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81f1dadb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f81f1dadb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Since we choose Mitral cells - Granule cell motif we looked out for biophysical models of mitral cells</a:t>
            </a:r>
            <a:endParaRPr/>
          </a:p>
          <a:p>
            <a:pPr indent="-298450" lvl="0" marL="457200" rtl="0" algn="l">
              <a:spcBef>
                <a:spcPts val="0"/>
              </a:spcBef>
              <a:spcAft>
                <a:spcPts val="0"/>
              </a:spcAft>
              <a:buSzPts val="1100"/>
              <a:buChar char="-"/>
            </a:pPr>
            <a:r>
              <a:rPr lang="en"/>
              <a:t>Prof Bhalla published a 286 compartment model</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81c8b5928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f81c8b5928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We choose a reduced 4 compartment model which best replicated the behavior of the previous 286 compartment model while running 75 times faster</a:t>
            </a:r>
            <a:endParaRPr/>
          </a:p>
          <a:p>
            <a:pPr indent="-298450" lvl="0" marL="457200" rtl="0" algn="l">
              <a:spcBef>
                <a:spcPts val="0"/>
              </a:spcBef>
              <a:spcAft>
                <a:spcPts val="0"/>
              </a:spcAft>
              <a:buSzPts val="1100"/>
              <a:buChar char="-"/>
            </a:pPr>
            <a:r>
              <a:rPr lang="en"/>
              <a:t>These are the four compartments they used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f81c8b5928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f81c8b5928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90000"/>
              </a:lnSpc>
              <a:spcBef>
                <a:spcPts val="800"/>
              </a:spcBef>
              <a:spcAft>
                <a:spcPts val="0"/>
              </a:spcAft>
              <a:buClr>
                <a:schemeClr val="dk1"/>
              </a:buClr>
              <a:buSzPts val="1000"/>
              <a:buChar char="-"/>
            </a:pPr>
            <a:r>
              <a:rPr lang="en" sz="1700">
                <a:solidFill>
                  <a:schemeClr val="dk1"/>
                </a:solidFill>
              </a:rPr>
              <a:t>We removed all the active channels and used a passive leak model to understand the passive conductance across the compartments</a:t>
            </a:r>
            <a:endParaRPr sz="1700">
              <a:solidFill>
                <a:schemeClr val="dk1"/>
              </a:solidFill>
            </a:endParaRPr>
          </a:p>
          <a:p>
            <a:pPr indent="0" lvl="0" marL="457200" rtl="0" algn="l">
              <a:lnSpc>
                <a:spcPct val="90000"/>
              </a:lnSpc>
              <a:spcBef>
                <a:spcPts val="800"/>
              </a:spcBef>
              <a:spcAft>
                <a:spcPts val="0"/>
              </a:spcAft>
              <a:buNone/>
            </a:pPr>
            <a:r>
              <a:rPr lang="en" sz="1700">
                <a:solidFill>
                  <a:schemeClr val="dk1"/>
                </a:solidFill>
              </a:rPr>
              <a:t>When stimulated from soma and glomeruli compartment</a:t>
            </a:r>
            <a:endParaRPr sz="1700">
              <a:solidFill>
                <a:schemeClr val="dk1"/>
              </a:solidFill>
            </a:endParaRPr>
          </a:p>
          <a:p>
            <a:pPr indent="0" lvl="0" marL="457200" rtl="0" algn="l">
              <a:lnSpc>
                <a:spcPct val="90000"/>
              </a:lnSpc>
              <a:spcBef>
                <a:spcPts val="800"/>
              </a:spcBef>
              <a:spcAft>
                <a:spcPts val="0"/>
              </a:spcAft>
              <a:buNone/>
            </a:pPr>
            <a:r>
              <a:t/>
            </a:r>
            <a:endParaRPr sz="17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f81c8baf66_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f81c8baf66_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Further we introduced the channels back and we had working simple biophysical model of mitral cells with huge dendritic arbour replicated to python frontend in neuron</a:t>
            </a:r>
            <a:endParaRPr/>
          </a:p>
          <a:p>
            <a:pPr indent="-298450" lvl="0" marL="457200" rtl="0" algn="l">
              <a:spcBef>
                <a:spcPts val="0"/>
              </a:spcBef>
              <a:spcAft>
                <a:spcPts val="0"/>
              </a:spcAft>
              <a:buSzPts val="1100"/>
              <a:buChar char="-"/>
            </a:pPr>
            <a:r>
              <a:rPr lang="en"/>
              <a:t>but now we need to introduce the reciprocal connection to </a:t>
            </a:r>
            <a:r>
              <a:rPr lang="en"/>
              <a:t>achieve</a:t>
            </a:r>
            <a:r>
              <a:rPr lang="en"/>
              <a:t> our motif</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81c8b592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81c8b592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f820cdc04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f820cdc04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f81c8b5928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f81c8b5928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532ac3309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f532ac3309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f532ac3309_6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f532ac3309_6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532ac33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f532ac33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f532ac330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f532ac330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f532ac330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f532ac330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f532ac330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f532ac330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 worked on a model consisting of 2 neurons which has reciprocal connections to 1 neuron with large  dendritic arbor to study the local feedback via dendrites,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Initially, we Used a mitral cell model (4 compartment), and studied its passive conductance across the compartments.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introduced active channels to get a simple biophysical model of mitral cells,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Added single compartment granule cells with HH and passive channels and connected to the secondary dendrites of mitral cells via reciprocal connections which gives feedback inhibition,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Our current model is not structurally accurate so we went for a bit more morphologically accurate models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f81c8b5928_7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3f81c8b5928_7_1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f532ac3309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f532ac3309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f81c8b5928_7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g3f81c8b5928_7_9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9" name="Google Shape;59;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idx="1" type="body"/>
          </p:nvPr>
        </p:nvSpPr>
        <p:spPr>
          <a:xfrm>
            <a:off x="623888" y="3442097"/>
            <a:ext cx="7886700" cy="11250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71" name="Google Shape;71;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18"/>
          <p:cNvSpPr txBox="1"/>
          <p:nvPr>
            <p:ph idx="1" type="body"/>
          </p:nvPr>
        </p:nvSpPr>
        <p:spPr>
          <a:xfrm>
            <a:off x="629841" y="1260872"/>
            <a:ext cx="38682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4" name="Google Shape;84;p18"/>
          <p:cNvSpPr txBox="1"/>
          <p:nvPr>
            <p:ph idx="2" type="body"/>
          </p:nvPr>
        </p:nvSpPr>
        <p:spPr>
          <a:xfrm>
            <a:off x="629841" y="1878806"/>
            <a:ext cx="3868200" cy="27633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8"/>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p18"/>
          <p:cNvSpPr txBox="1"/>
          <p:nvPr>
            <p:ph idx="4" type="body"/>
          </p:nvPr>
        </p:nvSpPr>
        <p:spPr>
          <a:xfrm>
            <a:off x="4629150" y="1878806"/>
            <a:ext cx="3887400" cy="27633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2" name="Google Shape;102;p21"/>
          <p:cNvSpPr txBox="1"/>
          <p:nvPr>
            <p:ph idx="2"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3" name="Google Shape;103;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3887391" y="740569"/>
            <a:ext cx="4629300" cy="3655200"/>
          </a:xfrm>
          <a:prstGeom prst="rect">
            <a:avLst/>
          </a:prstGeom>
          <a:noFill/>
          <a:ln>
            <a:noFill/>
          </a:ln>
        </p:spPr>
      </p:sp>
      <p:sp>
        <p:nvSpPr>
          <p:cNvPr id="109" name="Google Shape;109;p22"/>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0" name="Google Shape;110;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6" name="Google Shape;116;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757575"/>
                </a:solidFill>
                <a:latin typeface="Arial"/>
                <a:ea typeface="Arial"/>
                <a:cs typeface="Arial"/>
                <a:sym typeface="Arial"/>
              </a:defRPr>
            </a:lvl1pPr>
            <a:lvl2pPr indent="0" lvl="1" marL="0" marR="0" algn="r">
              <a:spcBef>
                <a:spcPts val="0"/>
              </a:spcBef>
              <a:buNone/>
              <a:defRPr b="0" i="0" sz="900" u="none" cap="none" strike="noStrike">
                <a:solidFill>
                  <a:srgbClr val="757575"/>
                </a:solidFill>
                <a:latin typeface="Arial"/>
                <a:ea typeface="Arial"/>
                <a:cs typeface="Arial"/>
                <a:sym typeface="Arial"/>
              </a:defRPr>
            </a:lvl2pPr>
            <a:lvl3pPr indent="0" lvl="2" marL="0" marR="0" algn="r">
              <a:spcBef>
                <a:spcPts val="0"/>
              </a:spcBef>
              <a:buNone/>
              <a:defRPr b="0" i="0" sz="900" u="none" cap="none" strike="noStrike">
                <a:solidFill>
                  <a:srgbClr val="757575"/>
                </a:solidFill>
                <a:latin typeface="Arial"/>
                <a:ea typeface="Arial"/>
                <a:cs typeface="Arial"/>
                <a:sym typeface="Arial"/>
              </a:defRPr>
            </a:lvl3pPr>
            <a:lvl4pPr indent="0" lvl="3" marL="0" marR="0" algn="r">
              <a:spcBef>
                <a:spcPts val="0"/>
              </a:spcBef>
              <a:buNone/>
              <a:defRPr b="0" i="0" sz="900" u="none" cap="none" strike="noStrike">
                <a:solidFill>
                  <a:srgbClr val="757575"/>
                </a:solidFill>
                <a:latin typeface="Arial"/>
                <a:ea typeface="Arial"/>
                <a:cs typeface="Arial"/>
                <a:sym typeface="Arial"/>
              </a:defRPr>
            </a:lvl4pPr>
            <a:lvl5pPr indent="0" lvl="4" marL="0" marR="0" algn="r">
              <a:spcBef>
                <a:spcPts val="0"/>
              </a:spcBef>
              <a:buNone/>
              <a:defRPr b="0" i="0" sz="900" u="none" cap="none" strike="noStrike">
                <a:solidFill>
                  <a:srgbClr val="757575"/>
                </a:solidFill>
                <a:latin typeface="Arial"/>
                <a:ea typeface="Arial"/>
                <a:cs typeface="Arial"/>
                <a:sym typeface="Arial"/>
              </a:defRPr>
            </a:lvl5pPr>
            <a:lvl6pPr indent="0" lvl="5" marL="0" marR="0" algn="r">
              <a:spcBef>
                <a:spcPts val="0"/>
              </a:spcBef>
              <a:buNone/>
              <a:defRPr b="0" i="0" sz="900" u="none" cap="none" strike="noStrike">
                <a:solidFill>
                  <a:srgbClr val="757575"/>
                </a:solidFill>
                <a:latin typeface="Arial"/>
                <a:ea typeface="Arial"/>
                <a:cs typeface="Arial"/>
                <a:sym typeface="Arial"/>
              </a:defRPr>
            </a:lvl6pPr>
            <a:lvl7pPr indent="0" lvl="6" marL="0" marR="0" algn="r">
              <a:spcBef>
                <a:spcPts val="0"/>
              </a:spcBef>
              <a:buNone/>
              <a:defRPr b="0" i="0" sz="900" u="none" cap="none" strike="noStrike">
                <a:solidFill>
                  <a:srgbClr val="757575"/>
                </a:solidFill>
                <a:latin typeface="Arial"/>
                <a:ea typeface="Arial"/>
                <a:cs typeface="Arial"/>
                <a:sym typeface="Arial"/>
              </a:defRPr>
            </a:lvl7pPr>
            <a:lvl8pPr indent="0" lvl="7" marL="0" marR="0" algn="r">
              <a:spcBef>
                <a:spcPts val="0"/>
              </a:spcBef>
              <a:buNone/>
              <a:defRPr b="0" i="0" sz="900" u="none" cap="none" strike="noStrike">
                <a:solidFill>
                  <a:srgbClr val="757575"/>
                </a:solidFill>
                <a:latin typeface="Arial"/>
                <a:ea typeface="Arial"/>
                <a:cs typeface="Arial"/>
                <a:sym typeface="Arial"/>
              </a:defRPr>
            </a:lvl8pPr>
            <a:lvl9pPr indent="0" lvl="8" marL="0" marR="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3.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23.jp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7"/>
        </a:solidFill>
      </p:bgPr>
    </p:bg>
    <p:spTree>
      <p:nvGrpSpPr>
        <p:cNvPr id="128" name="Shape 128"/>
        <p:cNvGrpSpPr/>
        <p:nvPr/>
      </p:nvGrpSpPr>
      <p:grpSpPr>
        <a:xfrm>
          <a:off x="0" y="0"/>
          <a:ext cx="0" cy="0"/>
          <a:chOff x="0" y="0"/>
          <a:chExt cx="0" cy="0"/>
        </a:xfrm>
      </p:grpSpPr>
      <p:sp>
        <p:nvSpPr>
          <p:cNvPr id="129" name="Google Shape;129;p2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pic>
        <p:nvPicPr>
          <p:cNvPr id="130" name="Google Shape;130;p25" title="ijerph-15-02194-g001.png"/>
          <p:cNvPicPr preferRelativeResize="0"/>
          <p:nvPr/>
        </p:nvPicPr>
        <p:blipFill rotWithShape="1">
          <a:blip r:embed="rId3">
            <a:alphaModFix/>
          </a:blip>
          <a:srcRect b="7125" l="41755" r="34715" t="20243"/>
          <a:stretch/>
        </p:blipFill>
        <p:spPr>
          <a:xfrm>
            <a:off x="6311075" y="460825"/>
            <a:ext cx="2521226" cy="4221850"/>
          </a:xfrm>
          <a:prstGeom prst="rect">
            <a:avLst/>
          </a:prstGeom>
          <a:noFill/>
          <a:ln>
            <a:noFill/>
          </a:ln>
        </p:spPr>
      </p:pic>
      <p:sp>
        <p:nvSpPr>
          <p:cNvPr id="131" name="Google Shape;131;p25"/>
          <p:cNvSpPr txBox="1"/>
          <p:nvPr/>
        </p:nvSpPr>
        <p:spPr>
          <a:xfrm>
            <a:off x="7631700" y="4682675"/>
            <a:ext cx="15123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solidFill>
                  <a:schemeClr val="lt1"/>
                </a:solidFill>
              </a:rPr>
              <a:t>(Harvey &amp; Heinbockel, 2018)</a:t>
            </a:r>
            <a:endParaRPr sz="600">
              <a:solidFill>
                <a:schemeClr val="lt1"/>
              </a:solidFill>
            </a:endParaRPr>
          </a:p>
        </p:txBody>
      </p:sp>
      <p:sp>
        <p:nvSpPr>
          <p:cNvPr id="132" name="Google Shape;132;p25"/>
          <p:cNvSpPr txBox="1"/>
          <p:nvPr/>
        </p:nvSpPr>
        <p:spPr>
          <a:xfrm>
            <a:off x="311700" y="974350"/>
            <a:ext cx="5409300" cy="306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chemeClr val="lt1"/>
                </a:solidFill>
                <a:latin typeface="Roboto"/>
                <a:ea typeface="Roboto"/>
                <a:cs typeface="Roboto"/>
                <a:sym typeface="Roboto"/>
              </a:rPr>
              <a:t>Does the cellular compartmentalization of a neuron matter for its computation?</a:t>
            </a:r>
            <a:endParaRPr b="1" sz="3000">
              <a:solidFill>
                <a:schemeClr val="lt1"/>
              </a:solidFill>
              <a:latin typeface="Roboto"/>
              <a:ea typeface="Roboto"/>
              <a:cs typeface="Roboto"/>
              <a:sym typeface="Roboto"/>
            </a:endParaRPr>
          </a:p>
          <a:p>
            <a:pPr indent="0" lvl="0" marL="0" rtl="0" algn="ctr">
              <a:spcBef>
                <a:spcPts val="0"/>
              </a:spcBef>
              <a:spcAft>
                <a:spcPts val="0"/>
              </a:spcAft>
              <a:buNone/>
            </a:pPr>
            <a:r>
              <a:t/>
            </a:r>
            <a:endParaRPr b="1" sz="2000">
              <a:solidFill>
                <a:schemeClr val="lt1"/>
              </a:solidFill>
              <a:latin typeface="Roboto"/>
              <a:ea typeface="Roboto"/>
              <a:cs typeface="Roboto"/>
              <a:sym typeface="Roboto"/>
            </a:endParaRPr>
          </a:p>
          <a:p>
            <a:pPr indent="0" lvl="0" marL="0" rtl="0" algn="ctr">
              <a:spcBef>
                <a:spcPts val="0"/>
              </a:spcBef>
              <a:spcAft>
                <a:spcPts val="0"/>
              </a:spcAft>
              <a:buNone/>
            </a:pPr>
            <a:r>
              <a:rPr b="1" lang="en" sz="2000">
                <a:solidFill>
                  <a:schemeClr val="lt1"/>
                </a:solidFill>
                <a:latin typeface="Roboto"/>
                <a:ea typeface="Roboto"/>
                <a:cs typeface="Roboto"/>
                <a:sym typeface="Roboto"/>
              </a:rPr>
              <a:t>Local Feedback Via Dendrites</a:t>
            </a:r>
            <a:endParaRPr b="1" sz="2000">
              <a:solidFill>
                <a:schemeClr val="lt1"/>
              </a:solidFill>
              <a:latin typeface="Roboto"/>
              <a:ea typeface="Roboto"/>
              <a:cs typeface="Roboto"/>
              <a:sym typeface="Roboto"/>
            </a:endParaRPr>
          </a:p>
        </p:txBody>
      </p:sp>
      <p:sp>
        <p:nvSpPr>
          <p:cNvPr id="133" name="Google Shape;133;p25"/>
          <p:cNvSpPr txBox="1"/>
          <p:nvPr>
            <p:ph idx="4294967295" type="body"/>
          </p:nvPr>
        </p:nvSpPr>
        <p:spPr>
          <a:xfrm>
            <a:off x="116825" y="141025"/>
            <a:ext cx="3950100" cy="3198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90000"/>
              </a:lnSpc>
              <a:spcBef>
                <a:spcPts val="800"/>
              </a:spcBef>
              <a:spcAft>
                <a:spcPts val="1200"/>
              </a:spcAft>
              <a:buClr>
                <a:schemeClr val="dk1"/>
              </a:buClr>
              <a:buSzPct val="87500"/>
              <a:buNone/>
            </a:pPr>
            <a:r>
              <a:rPr lang="en" sz="2400">
                <a:solidFill>
                  <a:schemeClr val="lt1"/>
                </a:solidFill>
                <a:latin typeface="Caveat"/>
                <a:ea typeface="Caveat"/>
                <a:cs typeface="Caveat"/>
                <a:sym typeface="Caveat"/>
              </a:rPr>
              <a:t>GROUP 4</a:t>
            </a:r>
            <a:r>
              <a:rPr lang="en">
                <a:solidFill>
                  <a:schemeClr val="lt1"/>
                </a:solidFill>
                <a:latin typeface="Caveat"/>
                <a:ea typeface="Caveat"/>
                <a:cs typeface="Caveat"/>
                <a:sym typeface="Caveat"/>
              </a:rPr>
              <a:t> : ALL-FACTORY RESET</a:t>
            </a:r>
            <a:endParaRPr>
              <a:solidFill>
                <a:schemeClr val="lt1"/>
              </a:solidFill>
              <a:latin typeface="Caveat"/>
              <a:ea typeface="Caveat"/>
              <a:cs typeface="Caveat"/>
              <a:sym typeface="Caveat"/>
            </a:endParaRPr>
          </a:p>
        </p:txBody>
      </p:sp>
      <p:sp>
        <p:nvSpPr>
          <p:cNvPr id="134" name="Google Shape;134;p25"/>
          <p:cNvSpPr txBox="1"/>
          <p:nvPr/>
        </p:nvSpPr>
        <p:spPr>
          <a:xfrm>
            <a:off x="116825" y="4288225"/>
            <a:ext cx="6636300" cy="507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2100">
                <a:solidFill>
                  <a:schemeClr val="lt1"/>
                </a:solidFill>
                <a:latin typeface="Caveat"/>
                <a:ea typeface="Caveat"/>
                <a:cs typeface="Caveat"/>
                <a:sym typeface="Caveat"/>
              </a:rPr>
              <a:t>Abhishek , Debarpita,  Rajkumar, Sanika, Shraddha</a:t>
            </a:r>
            <a:endParaRPr sz="2100">
              <a:solidFill>
                <a:schemeClr val="lt1"/>
              </a:solidFill>
              <a:latin typeface="Caveat"/>
              <a:ea typeface="Caveat"/>
              <a:cs typeface="Caveat"/>
              <a:sym typeface="Cave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0307"/>
        </a:solidFill>
      </p:bgPr>
    </p:bg>
    <p:spTree>
      <p:nvGrpSpPr>
        <p:cNvPr id="138" name="Shape 138"/>
        <p:cNvGrpSpPr/>
        <p:nvPr/>
      </p:nvGrpSpPr>
      <p:grpSpPr>
        <a:xfrm>
          <a:off x="0" y="0"/>
          <a:ext cx="0" cy="0"/>
          <a:chOff x="0" y="0"/>
          <a:chExt cx="0" cy="0"/>
        </a:xfrm>
      </p:grpSpPr>
      <p:sp>
        <p:nvSpPr>
          <p:cNvPr id="139" name="Google Shape;139;p26"/>
          <p:cNvSpPr txBox="1"/>
          <p:nvPr>
            <p:ph type="title"/>
          </p:nvPr>
        </p:nvSpPr>
        <p:spPr>
          <a:xfrm>
            <a:off x="236725" y="273850"/>
            <a:ext cx="8278500" cy="9942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3300"/>
              <a:buFont typeface="Play"/>
              <a:buNone/>
            </a:pPr>
            <a:r>
              <a:rPr lang="en" sz="2800">
                <a:solidFill>
                  <a:schemeClr val="lt1"/>
                </a:solidFill>
              </a:rPr>
              <a:t>Project 6: Local Feedback via Dendrites</a:t>
            </a:r>
            <a:endParaRPr sz="2800">
              <a:solidFill>
                <a:schemeClr val="lt1"/>
              </a:solidFill>
            </a:endParaRPr>
          </a:p>
        </p:txBody>
      </p:sp>
      <p:grpSp>
        <p:nvGrpSpPr>
          <p:cNvPr id="140" name="Google Shape;140;p26"/>
          <p:cNvGrpSpPr/>
          <p:nvPr/>
        </p:nvGrpSpPr>
        <p:grpSpPr>
          <a:xfrm>
            <a:off x="5006137" y="1126238"/>
            <a:ext cx="2725819" cy="1687987"/>
            <a:chOff x="5832675" y="2545225"/>
            <a:chExt cx="2725819" cy="1687987"/>
          </a:xfrm>
        </p:grpSpPr>
        <p:grpSp>
          <p:nvGrpSpPr>
            <p:cNvPr id="141" name="Google Shape;141;p26"/>
            <p:cNvGrpSpPr/>
            <p:nvPr/>
          </p:nvGrpSpPr>
          <p:grpSpPr>
            <a:xfrm>
              <a:off x="5832675" y="2834452"/>
              <a:ext cx="2725819" cy="1398760"/>
              <a:chOff x="5832850" y="2921377"/>
              <a:chExt cx="2597750" cy="1252023"/>
            </a:xfrm>
          </p:grpSpPr>
          <p:sp>
            <p:nvSpPr>
              <p:cNvPr id="142" name="Google Shape;142;p26"/>
              <p:cNvSpPr/>
              <p:nvPr/>
            </p:nvSpPr>
            <p:spPr>
              <a:xfrm>
                <a:off x="5832850" y="3420150"/>
                <a:ext cx="450600" cy="450600"/>
              </a:xfrm>
              <a:prstGeom prst="ellipse">
                <a:avLst/>
              </a:prstGeom>
              <a:solidFill>
                <a:srgbClr val="B7B7B7"/>
              </a:solidFill>
              <a:ln cap="flat" cmpd="sng" w="9975">
                <a:solidFill>
                  <a:schemeClr val="dk2"/>
                </a:solidFill>
                <a:prstDash val="solid"/>
                <a:round/>
                <a:headEnd len="sm" w="sm" type="none"/>
                <a:tailEnd len="sm" w="sm" type="none"/>
              </a:ln>
            </p:spPr>
            <p:txBody>
              <a:bodyPr anchorCtr="0" anchor="ctr" bIns="95925" lIns="95925" spcFirstLastPara="1" rIns="95925" wrap="square" tIns="95925">
                <a:noAutofit/>
              </a:bodyPr>
              <a:lstStyle/>
              <a:p>
                <a:pPr indent="0" lvl="0" marL="0" rtl="0" algn="ctr">
                  <a:spcBef>
                    <a:spcPts val="0"/>
                  </a:spcBef>
                  <a:spcAft>
                    <a:spcPts val="0"/>
                  </a:spcAft>
                  <a:buNone/>
                </a:pPr>
                <a:r>
                  <a:rPr b="1" lang="en" sz="1469"/>
                  <a:t>B</a:t>
                </a:r>
                <a:endParaRPr b="1" sz="1469"/>
              </a:p>
            </p:txBody>
          </p:sp>
          <p:sp>
            <p:nvSpPr>
              <p:cNvPr id="143" name="Google Shape;143;p26"/>
              <p:cNvSpPr/>
              <p:nvPr/>
            </p:nvSpPr>
            <p:spPr>
              <a:xfrm>
                <a:off x="6922025" y="3722800"/>
                <a:ext cx="450600" cy="450600"/>
              </a:xfrm>
              <a:prstGeom prst="ellipse">
                <a:avLst/>
              </a:prstGeom>
              <a:solidFill>
                <a:srgbClr val="00FF00"/>
              </a:solidFill>
              <a:ln cap="flat" cmpd="sng" w="9975">
                <a:solidFill>
                  <a:schemeClr val="dk2"/>
                </a:solidFill>
                <a:prstDash val="solid"/>
                <a:round/>
                <a:headEnd len="sm" w="sm" type="none"/>
                <a:tailEnd len="sm" w="sm" type="none"/>
              </a:ln>
            </p:spPr>
            <p:txBody>
              <a:bodyPr anchorCtr="0" anchor="ctr" bIns="95925" lIns="95925" spcFirstLastPara="1" rIns="95925" wrap="square" tIns="95925">
                <a:noAutofit/>
              </a:bodyPr>
              <a:lstStyle/>
              <a:p>
                <a:pPr indent="0" lvl="0" marL="0" rtl="0" algn="ctr">
                  <a:spcBef>
                    <a:spcPts val="0"/>
                  </a:spcBef>
                  <a:spcAft>
                    <a:spcPts val="0"/>
                  </a:spcAft>
                  <a:buNone/>
                </a:pPr>
                <a:r>
                  <a:rPr b="1" lang="en" sz="1469"/>
                  <a:t>A</a:t>
                </a:r>
                <a:endParaRPr b="1" sz="1469"/>
              </a:p>
            </p:txBody>
          </p:sp>
          <p:sp>
            <p:nvSpPr>
              <p:cNvPr id="144" name="Google Shape;144;p26"/>
              <p:cNvSpPr/>
              <p:nvPr/>
            </p:nvSpPr>
            <p:spPr>
              <a:xfrm>
                <a:off x="7980000" y="3722800"/>
                <a:ext cx="450600" cy="450600"/>
              </a:xfrm>
              <a:prstGeom prst="ellipse">
                <a:avLst/>
              </a:prstGeom>
              <a:solidFill>
                <a:srgbClr val="B7B7B7"/>
              </a:solidFill>
              <a:ln cap="flat" cmpd="sng" w="9975">
                <a:solidFill>
                  <a:schemeClr val="dk2"/>
                </a:solidFill>
                <a:prstDash val="solid"/>
                <a:round/>
                <a:headEnd len="sm" w="sm" type="none"/>
                <a:tailEnd len="sm" w="sm" type="none"/>
              </a:ln>
            </p:spPr>
            <p:txBody>
              <a:bodyPr anchorCtr="0" anchor="ctr" bIns="95925" lIns="95925" spcFirstLastPara="1" rIns="95925" wrap="square" tIns="95925">
                <a:noAutofit/>
              </a:bodyPr>
              <a:lstStyle/>
              <a:p>
                <a:pPr indent="0" lvl="0" marL="0" rtl="0" algn="ctr">
                  <a:spcBef>
                    <a:spcPts val="0"/>
                  </a:spcBef>
                  <a:spcAft>
                    <a:spcPts val="0"/>
                  </a:spcAft>
                  <a:buNone/>
                </a:pPr>
                <a:r>
                  <a:rPr b="1" lang="en" sz="1469"/>
                  <a:t>C</a:t>
                </a:r>
                <a:endParaRPr b="1" sz="1469"/>
              </a:p>
            </p:txBody>
          </p:sp>
          <p:cxnSp>
            <p:nvCxnSpPr>
              <p:cNvPr id="145" name="Google Shape;145;p26"/>
              <p:cNvCxnSpPr>
                <a:stCxn id="142" idx="7"/>
              </p:cNvCxnSpPr>
              <p:nvPr/>
            </p:nvCxnSpPr>
            <p:spPr>
              <a:xfrm flipH="1" rot="10800000">
                <a:off x="6217461" y="3340639"/>
                <a:ext cx="605100" cy="145500"/>
              </a:xfrm>
              <a:prstGeom prst="straightConnector1">
                <a:avLst/>
              </a:prstGeom>
              <a:noFill/>
              <a:ln cap="flat" cmpd="sng" w="20000">
                <a:solidFill>
                  <a:srgbClr val="FF0000"/>
                </a:solidFill>
                <a:prstDash val="solid"/>
                <a:round/>
                <a:headEnd len="med" w="med" type="none"/>
                <a:tailEnd len="med" w="med" type="triangle"/>
              </a:ln>
            </p:spPr>
          </p:cxnSp>
          <p:cxnSp>
            <p:nvCxnSpPr>
              <p:cNvPr id="146" name="Google Shape;146;p26"/>
              <p:cNvCxnSpPr>
                <a:endCxn id="144" idx="1"/>
              </p:cNvCxnSpPr>
              <p:nvPr/>
            </p:nvCxnSpPr>
            <p:spPr>
              <a:xfrm>
                <a:off x="7306489" y="3374189"/>
                <a:ext cx="739500" cy="414600"/>
              </a:xfrm>
              <a:prstGeom prst="straightConnector1">
                <a:avLst/>
              </a:prstGeom>
              <a:noFill/>
              <a:ln cap="flat" cmpd="sng" w="20000">
                <a:solidFill>
                  <a:srgbClr val="00E5FF"/>
                </a:solidFill>
                <a:prstDash val="solid"/>
                <a:round/>
                <a:headEnd len="med" w="med" type="none"/>
                <a:tailEnd len="med" w="med" type="triangle"/>
              </a:ln>
            </p:spPr>
          </p:cxnSp>
          <p:cxnSp>
            <p:nvCxnSpPr>
              <p:cNvPr id="147" name="Google Shape;147;p26"/>
              <p:cNvCxnSpPr>
                <a:endCxn id="142" idx="6"/>
              </p:cNvCxnSpPr>
              <p:nvPr/>
            </p:nvCxnSpPr>
            <p:spPr>
              <a:xfrm flipH="1">
                <a:off x="6283450" y="3499650"/>
                <a:ext cx="521700" cy="145800"/>
              </a:xfrm>
              <a:prstGeom prst="straightConnector1">
                <a:avLst/>
              </a:prstGeom>
              <a:noFill/>
              <a:ln cap="flat" cmpd="sng" w="20000">
                <a:solidFill>
                  <a:schemeClr val="accent4"/>
                </a:solidFill>
                <a:prstDash val="solid"/>
                <a:round/>
                <a:headEnd len="med" w="med" type="none"/>
                <a:tailEnd len="med" w="med" type="triangle"/>
              </a:ln>
            </p:spPr>
          </p:cxnSp>
          <p:cxnSp>
            <p:nvCxnSpPr>
              <p:cNvPr id="148" name="Google Shape;148;p26"/>
              <p:cNvCxnSpPr>
                <a:stCxn id="144" idx="2"/>
              </p:cNvCxnSpPr>
              <p:nvPr/>
            </p:nvCxnSpPr>
            <p:spPr>
              <a:xfrm rot="10800000">
                <a:off x="7256400" y="3556300"/>
                <a:ext cx="723600" cy="391800"/>
              </a:xfrm>
              <a:prstGeom prst="straightConnector1">
                <a:avLst/>
              </a:prstGeom>
              <a:noFill/>
              <a:ln cap="flat" cmpd="sng" w="20000">
                <a:solidFill>
                  <a:srgbClr val="FF0000"/>
                </a:solidFill>
                <a:prstDash val="solid"/>
                <a:round/>
                <a:headEnd len="med" w="med" type="none"/>
                <a:tailEnd len="med" w="med" type="triangle"/>
              </a:ln>
            </p:spPr>
          </p:cxnSp>
          <p:sp>
            <p:nvSpPr>
              <p:cNvPr id="149" name="Google Shape;149;p26"/>
              <p:cNvSpPr/>
              <p:nvPr/>
            </p:nvSpPr>
            <p:spPr>
              <a:xfrm>
                <a:off x="6787300" y="2951775"/>
                <a:ext cx="318150" cy="768875"/>
              </a:xfrm>
              <a:custGeom>
                <a:rect b="b" l="l" r="r" t="t"/>
                <a:pathLst>
                  <a:path extrusionOk="0" h="30755" w="12726">
                    <a:moveTo>
                      <a:pt x="0" y="0"/>
                    </a:moveTo>
                    <a:cubicBezTo>
                      <a:pt x="3535" y="0"/>
                      <a:pt x="6943" y="4997"/>
                      <a:pt x="6363" y="8484"/>
                    </a:cubicBezTo>
                    <a:cubicBezTo>
                      <a:pt x="5662" y="12698"/>
                      <a:pt x="529" y="15912"/>
                      <a:pt x="1060" y="20150"/>
                    </a:cubicBezTo>
                    <a:cubicBezTo>
                      <a:pt x="1713" y="25365"/>
                      <a:pt x="12726" y="25500"/>
                      <a:pt x="12726" y="30755"/>
                    </a:cubicBezTo>
                  </a:path>
                </a:pathLst>
              </a:custGeom>
              <a:noFill/>
              <a:ln cap="flat" cmpd="sng" w="9975">
                <a:solidFill>
                  <a:srgbClr val="00FF00"/>
                </a:solidFill>
                <a:prstDash val="solid"/>
                <a:round/>
                <a:headEnd len="med" w="med" type="none"/>
                <a:tailEnd len="med" w="med" type="none"/>
              </a:ln>
            </p:spPr>
          </p:sp>
          <p:sp>
            <p:nvSpPr>
              <p:cNvPr id="150" name="Google Shape;150;p26"/>
              <p:cNvSpPr/>
              <p:nvPr/>
            </p:nvSpPr>
            <p:spPr>
              <a:xfrm rot="-9712819">
                <a:off x="7053211" y="2951785"/>
                <a:ext cx="318147" cy="768868"/>
              </a:xfrm>
              <a:custGeom>
                <a:rect b="b" l="l" r="r" t="t"/>
                <a:pathLst>
                  <a:path extrusionOk="0" h="30755" w="12726">
                    <a:moveTo>
                      <a:pt x="0" y="0"/>
                    </a:moveTo>
                    <a:cubicBezTo>
                      <a:pt x="3535" y="0"/>
                      <a:pt x="6943" y="4997"/>
                      <a:pt x="6363" y="8484"/>
                    </a:cubicBezTo>
                    <a:cubicBezTo>
                      <a:pt x="5662" y="12698"/>
                      <a:pt x="529" y="15912"/>
                      <a:pt x="1060" y="20150"/>
                    </a:cubicBezTo>
                    <a:cubicBezTo>
                      <a:pt x="1713" y="25365"/>
                      <a:pt x="12726" y="25500"/>
                      <a:pt x="12726" y="30755"/>
                    </a:cubicBezTo>
                  </a:path>
                </a:pathLst>
              </a:custGeom>
              <a:noFill/>
              <a:ln cap="flat" cmpd="sng" w="9975">
                <a:solidFill>
                  <a:srgbClr val="00FF00"/>
                </a:solidFill>
                <a:prstDash val="solid"/>
                <a:round/>
                <a:headEnd len="med" w="med" type="none"/>
                <a:tailEnd len="med" w="med" type="none"/>
              </a:ln>
            </p:spPr>
          </p:sp>
        </p:grpSp>
        <p:sp>
          <p:nvSpPr>
            <p:cNvPr id="151" name="Google Shape;151;p26"/>
            <p:cNvSpPr/>
            <p:nvPr/>
          </p:nvSpPr>
          <p:spPr>
            <a:xfrm>
              <a:off x="6875675" y="2545225"/>
              <a:ext cx="304225" cy="1325650"/>
            </a:xfrm>
            <a:custGeom>
              <a:rect b="b" l="l" r="r" t="t"/>
              <a:pathLst>
                <a:path extrusionOk="0" h="53026" w="12169">
                  <a:moveTo>
                    <a:pt x="0" y="0"/>
                  </a:moveTo>
                  <a:cubicBezTo>
                    <a:pt x="6724" y="1681"/>
                    <a:pt x="11040" y="10107"/>
                    <a:pt x="12019" y="16969"/>
                  </a:cubicBezTo>
                  <a:cubicBezTo>
                    <a:pt x="12620" y="21184"/>
                    <a:pt x="9672" y="25165"/>
                    <a:pt x="8838" y="29341"/>
                  </a:cubicBezTo>
                  <a:cubicBezTo>
                    <a:pt x="8312" y="31976"/>
                    <a:pt x="10959" y="34432"/>
                    <a:pt x="10959" y="37119"/>
                  </a:cubicBezTo>
                  <a:cubicBezTo>
                    <a:pt x="10959" y="39706"/>
                    <a:pt x="8031" y="41433"/>
                    <a:pt x="7070" y="43835"/>
                  </a:cubicBezTo>
                  <a:cubicBezTo>
                    <a:pt x="5903" y="46754"/>
                    <a:pt x="6208" y="52033"/>
                    <a:pt x="9191" y="53026"/>
                  </a:cubicBezTo>
                </a:path>
              </a:pathLst>
            </a:custGeom>
            <a:noFill/>
            <a:ln cap="flat" cmpd="sng" w="9525">
              <a:solidFill>
                <a:srgbClr val="00FF00"/>
              </a:solidFill>
              <a:prstDash val="solid"/>
              <a:round/>
              <a:headEnd len="med" w="med" type="none"/>
              <a:tailEnd len="med" w="med" type="none"/>
            </a:ln>
          </p:spPr>
        </p:sp>
        <p:sp>
          <p:nvSpPr>
            <p:cNvPr id="152" name="Google Shape;152;p26"/>
            <p:cNvSpPr/>
            <p:nvPr/>
          </p:nvSpPr>
          <p:spPr>
            <a:xfrm>
              <a:off x="6707750" y="2661238"/>
              <a:ext cx="547950" cy="714725"/>
            </a:xfrm>
            <a:custGeom>
              <a:rect b="b" l="l" r="r" t="t"/>
              <a:pathLst>
                <a:path extrusionOk="0" h="28589" w="21918">
                  <a:moveTo>
                    <a:pt x="17676" y="28589"/>
                  </a:moveTo>
                  <a:cubicBezTo>
                    <a:pt x="16995" y="23829"/>
                    <a:pt x="21918" y="19610"/>
                    <a:pt x="21918" y="14802"/>
                  </a:cubicBezTo>
                  <a:cubicBezTo>
                    <a:pt x="21918" y="11453"/>
                    <a:pt x="16509" y="10807"/>
                    <a:pt x="14141" y="8439"/>
                  </a:cubicBezTo>
                  <a:cubicBezTo>
                    <a:pt x="10296" y="4594"/>
                    <a:pt x="5158" y="-1412"/>
                    <a:pt x="0" y="309"/>
                  </a:cubicBezTo>
                </a:path>
              </a:pathLst>
            </a:custGeom>
            <a:noFill/>
            <a:ln cap="flat" cmpd="sng" w="9525">
              <a:solidFill>
                <a:srgbClr val="00FF00"/>
              </a:solidFill>
              <a:prstDash val="solid"/>
              <a:round/>
              <a:headEnd len="med" w="med" type="none"/>
              <a:tailEnd len="med" w="med" type="none"/>
            </a:ln>
          </p:spPr>
        </p:sp>
      </p:grpSp>
      <p:sp>
        <p:nvSpPr>
          <p:cNvPr id="153" name="Google Shape;153;p26"/>
          <p:cNvSpPr txBox="1"/>
          <p:nvPr/>
        </p:nvSpPr>
        <p:spPr>
          <a:xfrm>
            <a:off x="850225" y="1414913"/>
            <a:ext cx="3021000" cy="15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rPr>
              <a:t>Create a neuron </a:t>
            </a:r>
            <a:r>
              <a:rPr b="1" lang="en" sz="1500">
                <a:solidFill>
                  <a:schemeClr val="lt1"/>
                </a:solidFill>
              </a:rPr>
              <a:t>A</a:t>
            </a:r>
            <a:r>
              <a:rPr lang="en" sz="1500">
                <a:solidFill>
                  <a:schemeClr val="lt1"/>
                </a:solidFill>
              </a:rPr>
              <a:t> with a large dendritic arbor and created two single compartmental neurons </a:t>
            </a:r>
            <a:r>
              <a:rPr b="1" lang="en" sz="1500">
                <a:solidFill>
                  <a:schemeClr val="lt1"/>
                </a:solidFill>
              </a:rPr>
              <a:t>B</a:t>
            </a:r>
            <a:r>
              <a:rPr lang="en" sz="1500">
                <a:solidFill>
                  <a:schemeClr val="lt1"/>
                </a:solidFill>
              </a:rPr>
              <a:t> and </a:t>
            </a:r>
            <a:r>
              <a:rPr b="1" lang="en" sz="1500">
                <a:solidFill>
                  <a:schemeClr val="lt1"/>
                </a:solidFill>
              </a:rPr>
              <a:t>C</a:t>
            </a:r>
            <a:r>
              <a:rPr lang="en" sz="1500">
                <a:solidFill>
                  <a:schemeClr val="lt1"/>
                </a:solidFill>
              </a:rPr>
              <a:t> and connected them reciprocally to </a:t>
            </a:r>
            <a:r>
              <a:rPr b="1" lang="en" sz="1500">
                <a:solidFill>
                  <a:schemeClr val="lt1"/>
                </a:solidFill>
              </a:rPr>
              <a:t>A</a:t>
            </a:r>
            <a:r>
              <a:rPr lang="en" sz="1500">
                <a:solidFill>
                  <a:schemeClr val="lt1"/>
                </a:solidFill>
              </a:rPr>
              <a:t>. Then compared the outcomes when: </a:t>
            </a:r>
            <a:endParaRPr sz="1300">
              <a:solidFill>
                <a:schemeClr val="lt1"/>
              </a:solidFill>
            </a:endParaRPr>
          </a:p>
        </p:txBody>
      </p:sp>
      <p:sp>
        <p:nvSpPr>
          <p:cNvPr id="154" name="Google Shape;154;p26"/>
          <p:cNvSpPr txBox="1"/>
          <p:nvPr/>
        </p:nvSpPr>
        <p:spPr>
          <a:xfrm>
            <a:off x="515275" y="3135275"/>
            <a:ext cx="3260400" cy="12552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lt1"/>
              </a:buClr>
              <a:buSzPts val="1100"/>
              <a:buAutoNum type="arabicPeriod"/>
            </a:pPr>
            <a:r>
              <a:rPr lang="en" sz="1200">
                <a:solidFill>
                  <a:schemeClr val="lt1"/>
                </a:solidFill>
              </a:rPr>
              <a:t>The synapses </a:t>
            </a:r>
            <a:r>
              <a:rPr b="1" lang="en" sz="1200">
                <a:solidFill>
                  <a:schemeClr val="lt1"/>
                </a:solidFill>
              </a:rPr>
              <a:t>B→A, A→B, C→A, and A→C</a:t>
            </a:r>
            <a:r>
              <a:rPr lang="en" sz="1200">
                <a:solidFill>
                  <a:schemeClr val="lt1"/>
                </a:solidFill>
              </a:rPr>
              <a:t> are all to and from the </a:t>
            </a:r>
            <a:r>
              <a:rPr b="1" lang="en" sz="1200">
                <a:solidFill>
                  <a:schemeClr val="lt1"/>
                </a:solidFill>
              </a:rPr>
              <a:t>same compartment</a:t>
            </a:r>
            <a:r>
              <a:rPr lang="en" sz="1200">
                <a:solidFill>
                  <a:schemeClr val="lt1"/>
                </a:solidFill>
              </a:rPr>
              <a:t> of neuron </a:t>
            </a:r>
            <a:r>
              <a:rPr b="1" lang="en" sz="1200">
                <a:solidFill>
                  <a:schemeClr val="lt1"/>
                </a:solidFill>
              </a:rPr>
              <a:t>A</a:t>
            </a:r>
            <a:r>
              <a:rPr lang="en" sz="1200">
                <a:solidFill>
                  <a:schemeClr val="lt1"/>
                </a:solidFill>
              </a:rPr>
              <a:t>.</a:t>
            </a:r>
            <a:r>
              <a:rPr lang="en" sz="1100">
                <a:solidFill>
                  <a:schemeClr val="lt1"/>
                </a:solidFill>
              </a:rPr>
              <a:t> </a:t>
            </a:r>
            <a:endParaRPr sz="1100">
              <a:solidFill>
                <a:schemeClr val="lt1"/>
              </a:solidFill>
            </a:endParaRPr>
          </a:p>
          <a:p>
            <a:pPr indent="0" lvl="0" marL="914400" rtl="0" algn="l">
              <a:spcBef>
                <a:spcPts val="0"/>
              </a:spcBef>
              <a:spcAft>
                <a:spcPts val="0"/>
              </a:spcAft>
              <a:buNone/>
            </a:pPr>
            <a:r>
              <a:t/>
            </a:r>
            <a:endParaRPr sz="1100">
              <a:solidFill>
                <a:schemeClr val="lt1"/>
              </a:solidFill>
            </a:endParaRPr>
          </a:p>
          <a:p>
            <a:pPr indent="-304800" lvl="0" marL="457200" rtl="0" algn="l">
              <a:spcBef>
                <a:spcPts val="0"/>
              </a:spcBef>
              <a:spcAft>
                <a:spcPts val="0"/>
              </a:spcAft>
              <a:buClr>
                <a:schemeClr val="lt1"/>
              </a:buClr>
              <a:buSzPts val="1200"/>
              <a:buAutoNum type="arabicPeriod"/>
            </a:pPr>
            <a:r>
              <a:rPr lang="en" sz="1200">
                <a:solidFill>
                  <a:schemeClr val="lt1"/>
                </a:solidFill>
              </a:rPr>
              <a:t>The scenario where they are on </a:t>
            </a:r>
            <a:r>
              <a:rPr b="1" lang="en" sz="1200">
                <a:solidFill>
                  <a:schemeClr val="lt1"/>
                </a:solidFill>
              </a:rPr>
              <a:t>different branches</a:t>
            </a:r>
            <a:r>
              <a:rPr lang="en" sz="1200">
                <a:solidFill>
                  <a:schemeClr val="lt1"/>
                </a:solidFill>
              </a:rPr>
              <a:t> of neuron </a:t>
            </a:r>
            <a:r>
              <a:rPr b="1" lang="en" sz="1200">
                <a:solidFill>
                  <a:schemeClr val="lt1"/>
                </a:solidFill>
              </a:rPr>
              <a:t>A</a:t>
            </a:r>
            <a:r>
              <a:rPr lang="en" sz="1200">
                <a:solidFill>
                  <a:schemeClr val="lt1"/>
                </a:solidFill>
              </a:rPr>
              <a:t>. </a:t>
            </a:r>
            <a:endParaRPr sz="1200">
              <a:solidFill>
                <a:schemeClr val="lt1"/>
              </a:solidFill>
            </a:endParaRPr>
          </a:p>
        </p:txBody>
      </p:sp>
      <p:pic>
        <p:nvPicPr>
          <p:cNvPr id="155" name="Google Shape;155;p26" title="Screenshot 2026-07-16 021421.png"/>
          <p:cNvPicPr preferRelativeResize="0"/>
          <p:nvPr/>
        </p:nvPicPr>
        <p:blipFill>
          <a:blip r:embed="rId3">
            <a:alphaModFix/>
          </a:blip>
          <a:stretch>
            <a:fillRect/>
          </a:stretch>
        </p:blipFill>
        <p:spPr>
          <a:xfrm>
            <a:off x="4926813" y="2961675"/>
            <a:ext cx="3020900" cy="1891300"/>
          </a:xfrm>
          <a:prstGeom prst="rect">
            <a:avLst/>
          </a:prstGeom>
          <a:noFill/>
          <a:ln>
            <a:noFill/>
          </a:ln>
        </p:spPr>
      </p:pic>
      <p:sp>
        <p:nvSpPr>
          <p:cNvPr id="156" name="Google Shape;156;p26"/>
          <p:cNvSpPr txBox="1"/>
          <p:nvPr/>
        </p:nvSpPr>
        <p:spPr>
          <a:xfrm>
            <a:off x="6189725" y="4852975"/>
            <a:ext cx="1758000" cy="2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rPr>
              <a:t>(Nagayama et al.,2014)</a:t>
            </a:r>
            <a:endParaRPr sz="11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0" name="Shape 160"/>
        <p:cNvGrpSpPr/>
        <p:nvPr/>
      </p:nvGrpSpPr>
      <p:grpSpPr>
        <a:xfrm>
          <a:off x="0" y="0"/>
          <a:ext cx="0" cy="0"/>
          <a:chOff x="0" y="0"/>
          <a:chExt cx="0" cy="0"/>
        </a:xfrm>
      </p:grpSpPr>
      <p:sp>
        <p:nvSpPr>
          <p:cNvPr id="161" name="Google Shape;161;p27"/>
          <p:cNvSpPr txBox="1"/>
          <p:nvPr>
            <p:ph type="title"/>
          </p:nvPr>
        </p:nvSpPr>
        <p:spPr>
          <a:xfrm>
            <a:off x="628650" y="103519"/>
            <a:ext cx="7886700" cy="9942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3300"/>
              <a:buFont typeface="Play"/>
              <a:buNone/>
            </a:pPr>
            <a:r>
              <a:rPr lang="en" sz="3000">
                <a:solidFill>
                  <a:schemeClr val="lt1"/>
                </a:solidFill>
              </a:rPr>
              <a:t>Mitral and granule cells have dendro-dendritic reciprocal synapses</a:t>
            </a:r>
            <a:endParaRPr sz="3000">
              <a:solidFill>
                <a:schemeClr val="lt1"/>
              </a:solidFill>
            </a:endParaRPr>
          </a:p>
        </p:txBody>
      </p:sp>
      <p:grpSp>
        <p:nvGrpSpPr>
          <p:cNvPr id="162" name="Google Shape;162;p27"/>
          <p:cNvGrpSpPr/>
          <p:nvPr/>
        </p:nvGrpSpPr>
        <p:grpSpPr>
          <a:xfrm>
            <a:off x="4732300" y="3105967"/>
            <a:ext cx="3783049" cy="1900840"/>
            <a:chOff x="5546278" y="2545225"/>
            <a:chExt cx="3359425" cy="1687985"/>
          </a:xfrm>
        </p:grpSpPr>
        <p:grpSp>
          <p:nvGrpSpPr>
            <p:cNvPr id="163" name="Google Shape;163;p27"/>
            <p:cNvGrpSpPr/>
            <p:nvPr/>
          </p:nvGrpSpPr>
          <p:grpSpPr>
            <a:xfrm>
              <a:off x="5546278" y="2834452"/>
              <a:ext cx="3359425" cy="1398758"/>
              <a:chOff x="5559909" y="2921377"/>
              <a:chExt cx="3201587" cy="1252021"/>
            </a:xfrm>
          </p:grpSpPr>
          <p:sp>
            <p:nvSpPr>
              <p:cNvPr id="164" name="Google Shape;164;p27"/>
              <p:cNvSpPr/>
              <p:nvPr/>
            </p:nvSpPr>
            <p:spPr>
              <a:xfrm>
                <a:off x="5559909" y="3420161"/>
                <a:ext cx="781500" cy="450600"/>
              </a:xfrm>
              <a:prstGeom prst="ellipse">
                <a:avLst/>
              </a:prstGeom>
              <a:solidFill>
                <a:srgbClr val="D9D2E9"/>
              </a:solidFill>
              <a:ln cap="flat" cmpd="sng" w="11225">
                <a:solidFill>
                  <a:schemeClr val="dk2"/>
                </a:solidFill>
                <a:prstDash val="solid"/>
                <a:round/>
                <a:headEnd len="sm" w="sm" type="none"/>
                <a:tailEnd len="sm" w="sm" type="none"/>
              </a:ln>
            </p:spPr>
            <p:txBody>
              <a:bodyPr anchorCtr="0" anchor="ctr" bIns="108025" lIns="108025" spcFirstLastPara="1" rIns="108025" wrap="square" tIns="108025">
                <a:noAutofit/>
              </a:bodyPr>
              <a:lstStyle/>
              <a:p>
                <a:pPr indent="0" lvl="0" marL="0" rtl="0" algn="ctr">
                  <a:spcBef>
                    <a:spcPts val="0"/>
                  </a:spcBef>
                  <a:spcAft>
                    <a:spcPts val="0"/>
                  </a:spcAft>
                  <a:buNone/>
                </a:pPr>
                <a:r>
                  <a:rPr b="1" lang="en" sz="853"/>
                  <a:t>Granule cell</a:t>
                </a:r>
                <a:endParaRPr b="1" sz="853"/>
              </a:p>
            </p:txBody>
          </p:sp>
          <p:sp>
            <p:nvSpPr>
              <p:cNvPr id="165" name="Google Shape;165;p27"/>
              <p:cNvSpPr/>
              <p:nvPr/>
            </p:nvSpPr>
            <p:spPr>
              <a:xfrm>
                <a:off x="6767640" y="3722799"/>
                <a:ext cx="605100" cy="450600"/>
              </a:xfrm>
              <a:prstGeom prst="ellipse">
                <a:avLst/>
              </a:prstGeom>
              <a:solidFill>
                <a:srgbClr val="00E5FF"/>
              </a:solidFill>
              <a:ln cap="flat" cmpd="sng" w="11225">
                <a:solidFill>
                  <a:schemeClr val="dk2"/>
                </a:solidFill>
                <a:prstDash val="solid"/>
                <a:round/>
                <a:headEnd len="sm" w="sm" type="none"/>
                <a:tailEnd len="sm" w="sm" type="none"/>
              </a:ln>
            </p:spPr>
            <p:txBody>
              <a:bodyPr anchorCtr="0" anchor="ctr" bIns="108025" lIns="108025" spcFirstLastPara="1" rIns="108025" wrap="square" tIns="108025">
                <a:noAutofit/>
              </a:bodyPr>
              <a:lstStyle/>
              <a:p>
                <a:pPr indent="0" lvl="0" marL="0" rtl="0" algn="ctr">
                  <a:spcBef>
                    <a:spcPts val="0"/>
                  </a:spcBef>
                  <a:spcAft>
                    <a:spcPts val="0"/>
                  </a:spcAft>
                  <a:buNone/>
                </a:pPr>
                <a:r>
                  <a:rPr b="1" lang="en" sz="853"/>
                  <a:t>Mitral cell</a:t>
                </a:r>
                <a:endParaRPr b="1" sz="853"/>
              </a:p>
            </p:txBody>
          </p:sp>
          <p:sp>
            <p:nvSpPr>
              <p:cNvPr id="166" name="Google Shape;166;p27"/>
              <p:cNvSpPr/>
              <p:nvPr/>
            </p:nvSpPr>
            <p:spPr>
              <a:xfrm>
                <a:off x="7979996" y="3722799"/>
                <a:ext cx="781500" cy="321600"/>
              </a:xfrm>
              <a:prstGeom prst="ellipse">
                <a:avLst/>
              </a:prstGeom>
              <a:solidFill>
                <a:srgbClr val="D9D2E9"/>
              </a:solidFill>
              <a:ln cap="flat" cmpd="sng" w="11225">
                <a:solidFill>
                  <a:schemeClr val="dk2"/>
                </a:solidFill>
                <a:prstDash val="solid"/>
                <a:round/>
                <a:headEnd len="sm" w="sm" type="none"/>
                <a:tailEnd len="sm" w="sm" type="none"/>
              </a:ln>
            </p:spPr>
            <p:txBody>
              <a:bodyPr anchorCtr="0" anchor="ctr" bIns="108025" lIns="108025" spcFirstLastPara="1" rIns="108025" wrap="square" tIns="108025">
                <a:noAutofit/>
              </a:bodyPr>
              <a:lstStyle/>
              <a:p>
                <a:pPr indent="0" lvl="0" marL="0" rtl="0" algn="ctr">
                  <a:spcBef>
                    <a:spcPts val="0"/>
                  </a:spcBef>
                  <a:spcAft>
                    <a:spcPts val="0"/>
                  </a:spcAft>
                  <a:buNone/>
                </a:pPr>
                <a:r>
                  <a:rPr b="1" lang="en" sz="853">
                    <a:solidFill>
                      <a:schemeClr val="dk1"/>
                    </a:solidFill>
                  </a:rPr>
                  <a:t>Granule cell</a:t>
                </a:r>
                <a:endParaRPr b="1" sz="1754"/>
              </a:p>
            </p:txBody>
          </p:sp>
          <p:cxnSp>
            <p:nvCxnSpPr>
              <p:cNvPr id="167" name="Google Shape;167;p27"/>
              <p:cNvCxnSpPr>
                <a:stCxn id="164" idx="7"/>
              </p:cNvCxnSpPr>
              <p:nvPr/>
            </p:nvCxnSpPr>
            <p:spPr>
              <a:xfrm flipH="1" rot="10800000">
                <a:off x="6226961" y="3340650"/>
                <a:ext cx="605100" cy="145500"/>
              </a:xfrm>
              <a:prstGeom prst="straightConnector1">
                <a:avLst/>
              </a:prstGeom>
              <a:noFill/>
              <a:ln cap="flat" cmpd="sng" w="22525">
                <a:solidFill>
                  <a:srgbClr val="FF0000"/>
                </a:solidFill>
                <a:prstDash val="solid"/>
                <a:round/>
                <a:headEnd len="med" w="med" type="none"/>
                <a:tailEnd len="med" w="med" type="triangle"/>
              </a:ln>
            </p:spPr>
          </p:cxnSp>
          <p:cxnSp>
            <p:nvCxnSpPr>
              <p:cNvPr id="168" name="Google Shape;168;p27"/>
              <p:cNvCxnSpPr>
                <a:endCxn id="166" idx="1"/>
              </p:cNvCxnSpPr>
              <p:nvPr/>
            </p:nvCxnSpPr>
            <p:spPr>
              <a:xfrm>
                <a:off x="7354944" y="3355296"/>
                <a:ext cx="739500" cy="414600"/>
              </a:xfrm>
              <a:prstGeom prst="straightConnector1">
                <a:avLst/>
              </a:prstGeom>
              <a:noFill/>
              <a:ln cap="flat" cmpd="sng" w="22525">
                <a:solidFill>
                  <a:srgbClr val="FF0000"/>
                </a:solidFill>
                <a:prstDash val="solid"/>
                <a:round/>
                <a:headEnd len="med" w="med" type="none"/>
                <a:tailEnd len="med" w="med" type="triangle"/>
              </a:ln>
            </p:spPr>
          </p:cxnSp>
          <p:cxnSp>
            <p:nvCxnSpPr>
              <p:cNvPr id="169" name="Google Shape;169;p27"/>
              <p:cNvCxnSpPr>
                <a:endCxn id="164" idx="6"/>
              </p:cNvCxnSpPr>
              <p:nvPr/>
            </p:nvCxnSpPr>
            <p:spPr>
              <a:xfrm flipH="1">
                <a:off x="6341409" y="3499661"/>
                <a:ext cx="521700" cy="145800"/>
              </a:xfrm>
              <a:prstGeom prst="straightConnector1">
                <a:avLst/>
              </a:prstGeom>
              <a:noFill/>
              <a:ln cap="flat" cmpd="sng" w="22525">
                <a:solidFill>
                  <a:schemeClr val="accent6"/>
                </a:solidFill>
                <a:prstDash val="solid"/>
                <a:round/>
                <a:headEnd len="med" w="med" type="none"/>
                <a:tailEnd len="med" w="med" type="triangle"/>
              </a:ln>
            </p:spPr>
          </p:cxnSp>
          <p:cxnSp>
            <p:nvCxnSpPr>
              <p:cNvPr id="170" name="Google Shape;170;p27"/>
              <p:cNvCxnSpPr>
                <a:stCxn id="166" idx="2"/>
              </p:cNvCxnSpPr>
              <p:nvPr/>
            </p:nvCxnSpPr>
            <p:spPr>
              <a:xfrm rot="10800000">
                <a:off x="7256396" y="3491799"/>
                <a:ext cx="723600" cy="391800"/>
              </a:xfrm>
              <a:prstGeom prst="straightConnector1">
                <a:avLst/>
              </a:prstGeom>
              <a:noFill/>
              <a:ln cap="flat" cmpd="sng" w="22525">
                <a:solidFill>
                  <a:schemeClr val="accent6"/>
                </a:solidFill>
                <a:prstDash val="solid"/>
                <a:round/>
                <a:headEnd len="med" w="med" type="none"/>
                <a:tailEnd len="med" w="med" type="triangle"/>
              </a:ln>
            </p:spPr>
          </p:cxnSp>
          <p:sp>
            <p:nvSpPr>
              <p:cNvPr id="171" name="Google Shape;171;p27"/>
              <p:cNvSpPr/>
              <p:nvPr/>
            </p:nvSpPr>
            <p:spPr>
              <a:xfrm>
                <a:off x="6787300" y="2951775"/>
                <a:ext cx="318150" cy="768875"/>
              </a:xfrm>
              <a:custGeom>
                <a:rect b="b" l="l" r="r" t="t"/>
                <a:pathLst>
                  <a:path extrusionOk="0" h="30755" w="12726">
                    <a:moveTo>
                      <a:pt x="0" y="0"/>
                    </a:moveTo>
                    <a:cubicBezTo>
                      <a:pt x="3535" y="0"/>
                      <a:pt x="6943" y="4997"/>
                      <a:pt x="6363" y="8484"/>
                    </a:cubicBezTo>
                    <a:cubicBezTo>
                      <a:pt x="5662" y="12698"/>
                      <a:pt x="529" y="15912"/>
                      <a:pt x="1060" y="20150"/>
                    </a:cubicBezTo>
                    <a:cubicBezTo>
                      <a:pt x="1713" y="25365"/>
                      <a:pt x="12726" y="25500"/>
                      <a:pt x="12726" y="30755"/>
                    </a:cubicBezTo>
                  </a:path>
                </a:pathLst>
              </a:custGeom>
              <a:noFill/>
              <a:ln cap="flat" cmpd="sng" w="11225">
                <a:solidFill>
                  <a:srgbClr val="00E5FF"/>
                </a:solidFill>
                <a:prstDash val="solid"/>
                <a:round/>
                <a:headEnd len="med" w="med" type="none"/>
                <a:tailEnd len="med" w="med" type="none"/>
              </a:ln>
            </p:spPr>
          </p:sp>
          <p:sp>
            <p:nvSpPr>
              <p:cNvPr id="172" name="Google Shape;172;p27"/>
              <p:cNvSpPr/>
              <p:nvPr/>
            </p:nvSpPr>
            <p:spPr>
              <a:xfrm rot="-9712819">
                <a:off x="7053211" y="2951785"/>
                <a:ext cx="318147" cy="768868"/>
              </a:xfrm>
              <a:custGeom>
                <a:rect b="b" l="l" r="r" t="t"/>
                <a:pathLst>
                  <a:path extrusionOk="0" h="30755" w="12726">
                    <a:moveTo>
                      <a:pt x="0" y="0"/>
                    </a:moveTo>
                    <a:cubicBezTo>
                      <a:pt x="3535" y="0"/>
                      <a:pt x="6943" y="4997"/>
                      <a:pt x="6363" y="8484"/>
                    </a:cubicBezTo>
                    <a:cubicBezTo>
                      <a:pt x="5662" y="12698"/>
                      <a:pt x="529" y="15912"/>
                      <a:pt x="1060" y="20150"/>
                    </a:cubicBezTo>
                    <a:cubicBezTo>
                      <a:pt x="1713" y="25365"/>
                      <a:pt x="12726" y="25500"/>
                      <a:pt x="12726" y="30755"/>
                    </a:cubicBezTo>
                  </a:path>
                </a:pathLst>
              </a:custGeom>
              <a:noFill/>
              <a:ln cap="flat" cmpd="sng" w="11225">
                <a:solidFill>
                  <a:srgbClr val="00E5FF"/>
                </a:solidFill>
                <a:prstDash val="solid"/>
                <a:round/>
                <a:headEnd len="med" w="med" type="none"/>
                <a:tailEnd len="med" w="med" type="none"/>
              </a:ln>
            </p:spPr>
          </p:sp>
        </p:grpSp>
        <p:sp>
          <p:nvSpPr>
            <p:cNvPr id="173" name="Google Shape;173;p27"/>
            <p:cNvSpPr/>
            <p:nvPr/>
          </p:nvSpPr>
          <p:spPr>
            <a:xfrm>
              <a:off x="6875675" y="2545225"/>
              <a:ext cx="304225" cy="1325650"/>
            </a:xfrm>
            <a:custGeom>
              <a:rect b="b" l="l" r="r" t="t"/>
              <a:pathLst>
                <a:path extrusionOk="0" h="53026" w="12169">
                  <a:moveTo>
                    <a:pt x="0" y="0"/>
                  </a:moveTo>
                  <a:cubicBezTo>
                    <a:pt x="6724" y="1681"/>
                    <a:pt x="11040" y="10107"/>
                    <a:pt x="12019" y="16969"/>
                  </a:cubicBezTo>
                  <a:cubicBezTo>
                    <a:pt x="12620" y="21184"/>
                    <a:pt x="9672" y="25165"/>
                    <a:pt x="8838" y="29341"/>
                  </a:cubicBezTo>
                  <a:cubicBezTo>
                    <a:pt x="8312" y="31976"/>
                    <a:pt x="10959" y="34432"/>
                    <a:pt x="10959" y="37119"/>
                  </a:cubicBezTo>
                  <a:cubicBezTo>
                    <a:pt x="10959" y="39706"/>
                    <a:pt x="8031" y="41433"/>
                    <a:pt x="7070" y="43835"/>
                  </a:cubicBezTo>
                  <a:cubicBezTo>
                    <a:pt x="5903" y="46754"/>
                    <a:pt x="6208" y="52033"/>
                    <a:pt x="9191" y="53026"/>
                  </a:cubicBezTo>
                </a:path>
              </a:pathLst>
            </a:custGeom>
            <a:noFill/>
            <a:ln cap="flat" cmpd="sng" w="10725">
              <a:solidFill>
                <a:srgbClr val="00E5FF"/>
              </a:solidFill>
              <a:prstDash val="solid"/>
              <a:round/>
              <a:headEnd len="med" w="med" type="none"/>
              <a:tailEnd len="med" w="med" type="none"/>
            </a:ln>
          </p:spPr>
        </p:sp>
        <p:sp>
          <p:nvSpPr>
            <p:cNvPr id="174" name="Google Shape;174;p27"/>
            <p:cNvSpPr/>
            <p:nvPr/>
          </p:nvSpPr>
          <p:spPr>
            <a:xfrm>
              <a:off x="6707750" y="2661238"/>
              <a:ext cx="547950" cy="714725"/>
            </a:xfrm>
            <a:custGeom>
              <a:rect b="b" l="l" r="r" t="t"/>
              <a:pathLst>
                <a:path extrusionOk="0" h="28589" w="21918">
                  <a:moveTo>
                    <a:pt x="17676" y="28589"/>
                  </a:moveTo>
                  <a:cubicBezTo>
                    <a:pt x="16995" y="23829"/>
                    <a:pt x="21918" y="19610"/>
                    <a:pt x="21918" y="14802"/>
                  </a:cubicBezTo>
                  <a:cubicBezTo>
                    <a:pt x="21918" y="11453"/>
                    <a:pt x="16509" y="10807"/>
                    <a:pt x="14141" y="8439"/>
                  </a:cubicBezTo>
                  <a:cubicBezTo>
                    <a:pt x="10296" y="4594"/>
                    <a:pt x="5158" y="-1412"/>
                    <a:pt x="0" y="309"/>
                  </a:cubicBezTo>
                </a:path>
              </a:pathLst>
            </a:custGeom>
            <a:noFill/>
            <a:ln cap="flat" cmpd="sng" w="10725">
              <a:solidFill>
                <a:srgbClr val="00E5FF"/>
              </a:solidFill>
              <a:prstDash val="solid"/>
              <a:round/>
              <a:headEnd len="med" w="med" type="none"/>
              <a:tailEnd len="med" w="med" type="none"/>
            </a:ln>
          </p:spPr>
        </p:sp>
      </p:grpSp>
      <p:grpSp>
        <p:nvGrpSpPr>
          <p:cNvPr id="175" name="Google Shape;175;p27"/>
          <p:cNvGrpSpPr/>
          <p:nvPr/>
        </p:nvGrpSpPr>
        <p:grpSpPr>
          <a:xfrm>
            <a:off x="5159063" y="1257890"/>
            <a:ext cx="3123662" cy="1922222"/>
            <a:chOff x="5159063" y="1257890"/>
            <a:chExt cx="3123662" cy="1922222"/>
          </a:xfrm>
        </p:grpSpPr>
        <p:grpSp>
          <p:nvGrpSpPr>
            <p:cNvPr id="176" name="Google Shape;176;p27"/>
            <p:cNvGrpSpPr/>
            <p:nvPr/>
          </p:nvGrpSpPr>
          <p:grpSpPr>
            <a:xfrm>
              <a:off x="5159063" y="1257890"/>
              <a:ext cx="2458397" cy="1687908"/>
              <a:chOff x="4572000" y="1836800"/>
              <a:chExt cx="3627024" cy="2490275"/>
            </a:xfrm>
          </p:grpSpPr>
          <p:pic>
            <p:nvPicPr>
              <p:cNvPr id="177" name="Google Shape;177;p27"/>
              <p:cNvPicPr preferRelativeResize="0"/>
              <p:nvPr/>
            </p:nvPicPr>
            <p:blipFill rotWithShape="1">
              <a:blip r:embed="rId3">
                <a:alphaModFix/>
              </a:blip>
              <a:srcRect b="24694" l="56188" r="0" t="42013"/>
              <a:stretch/>
            </p:blipFill>
            <p:spPr>
              <a:xfrm>
                <a:off x="4572000" y="1836800"/>
                <a:ext cx="3627024" cy="2490275"/>
              </a:xfrm>
              <a:prstGeom prst="rect">
                <a:avLst/>
              </a:prstGeom>
              <a:noFill/>
              <a:ln>
                <a:noFill/>
              </a:ln>
            </p:spPr>
          </p:pic>
          <p:sp>
            <p:nvSpPr>
              <p:cNvPr id="178" name="Google Shape;178;p27"/>
              <p:cNvSpPr/>
              <p:nvPr/>
            </p:nvSpPr>
            <p:spPr>
              <a:xfrm>
                <a:off x="4572000" y="1910475"/>
                <a:ext cx="576000" cy="2129400"/>
              </a:xfrm>
              <a:prstGeom prst="rect">
                <a:avLst/>
              </a:prstGeom>
              <a:solidFill>
                <a:schemeClr val="lt1"/>
              </a:solidFill>
              <a:ln cap="flat" cmpd="sng" w="6450">
                <a:solidFill>
                  <a:schemeClr val="lt1"/>
                </a:solidFill>
                <a:prstDash val="solid"/>
                <a:round/>
                <a:headEnd len="sm" w="sm" type="none"/>
                <a:tailEnd len="sm" w="sm" type="none"/>
              </a:ln>
            </p:spPr>
            <p:txBody>
              <a:bodyPr anchorCtr="0" anchor="ctr" bIns="61975" lIns="61975" spcFirstLastPara="1" rIns="61975" wrap="square" tIns="61975">
                <a:noAutofit/>
              </a:bodyPr>
              <a:lstStyle/>
              <a:p>
                <a:pPr indent="0" lvl="0" marL="0" rtl="0" algn="ctr">
                  <a:spcBef>
                    <a:spcPts val="0"/>
                  </a:spcBef>
                  <a:spcAft>
                    <a:spcPts val="0"/>
                  </a:spcAft>
                  <a:buNone/>
                </a:pPr>
                <a:r>
                  <a:t/>
                </a:r>
                <a:endParaRPr sz="949"/>
              </a:p>
            </p:txBody>
          </p:sp>
        </p:grpSp>
        <p:sp>
          <p:nvSpPr>
            <p:cNvPr id="179" name="Google Shape;179;p27"/>
            <p:cNvSpPr txBox="1"/>
            <p:nvPr/>
          </p:nvSpPr>
          <p:spPr>
            <a:xfrm>
              <a:off x="6729625" y="2887613"/>
              <a:ext cx="15531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lt1"/>
                  </a:solidFill>
                </a:rPr>
                <a:t>(Sakamoto et al., 2014)</a:t>
              </a:r>
              <a:endParaRPr sz="700">
                <a:solidFill>
                  <a:schemeClr val="lt1"/>
                </a:solidFill>
              </a:endParaRPr>
            </a:p>
          </p:txBody>
        </p:sp>
      </p:grpSp>
      <p:grpSp>
        <p:nvGrpSpPr>
          <p:cNvPr id="180" name="Google Shape;180;p27"/>
          <p:cNvGrpSpPr/>
          <p:nvPr/>
        </p:nvGrpSpPr>
        <p:grpSpPr>
          <a:xfrm>
            <a:off x="1198075" y="1172200"/>
            <a:ext cx="2984750" cy="4031125"/>
            <a:chOff x="1198075" y="1172200"/>
            <a:chExt cx="2984750" cy="4031125"/>
          </a:xfrm>
        </p:grpSpPr>
        <p:pic>
          <p:nvPicPr>
            <p:cNvPr id="181" name="Google Shape;181;p27"/>
            <p:cNvPicPr preferRelativeResize="0"/>
            <p:nvPr/>
          </p:nvPicPr>
          <p:blipFill>
            <a:blip r:embed="rId4">
              <a:alphaModFix/>
            </a:blip>
            <a:stretch>
              <a:fillRect/>
            </a:stretch>
          </p:blipFill>
          <p:spPr>
            <a:xfrm>
              <a:off x="1198075" y="1172200"/>
              <a:ext cx="2873749" cy="3723324"/>
            </a:xfrm>
            <a:prstGeom prst="rect">
              <a:avLst/>
            </a:prstGeom>
            <a:noFill/>
            <a:ln>
              <a:noFill/>
            </a:ln>
          </p:spPr>
        </p:pic>
        <p:sp>
          <p:nvSpPr>
            <p:cNvPr id="182" name="Google Shape;182;p27"/>
            <p:cNvSpPr txBox="1"/>
            <p:nvPr/>
          </p:nvSpPr>
          <p:spPr>
            <a:xfrm>
              <a:off x="3012825" y="4895525"/>
              <a:ext cx="117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rPr>
                <a:t>(Neuroscience, 2024)</a:t>
              </a:r>
              <a:endParaRPr sz="800">
                <a:solidFill>
                  <a:schemeClr val="lt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6" name="Shape 186"/>
        <p:cNvGrpSpPr/>
        <p:nvPr/>
      </p:nvGrpSpPr>
      <p:grpSpPr>
        <a:xfrm>
          <a:off x="0" y="0"/>
          <a:ext cx="0" cy="0"/>
          <a:chOff x="0" y="0"/>
          <a:chExt cx="0" cy="0"/>
        </a:xfrm>
      </p:grpSpPr>
      <p:sp>
        <p:nvSpPr>
          <p:cNvPr id="187" name="Google Shape;187;p28"/>
          <p:cNvSpPr txBox="1"/>
          <p:nvPr>
            <p:ph type="title"/>
          </p:nvPr>
        </p:nvSpPr>
        <p:spPr>
          <a:xfrm>
            <a:off x="628650" y="105744"/>
            <a:ext cx="7886700" cy="9942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
                <a:solidFill>
                  <a:schemeClr val="lt1"/>
                </a:solidFill>
              </a:rPr>
              <a:t>Modelling the Mitral Cell</a:t>
            </a:r>
            <a:endParaRPr>
              <a:solidFill>
                <a:schemeClr val="lt1"/>
              </a:solidFill>
            </a:endParaRPr>
          </a:p>
        </p:txBody>
      </p:sp>
      <p:pic>
        <p:nvPicPr>
          <p:cNvPr id="188" name="Google Shape;188;p28"/>
          <p:cNvPicPr preferRelativeResize="0"/>
          <p:nvPr/>
        </p:nvPicPr>
        <p:blipFill>
          <a:blip r:embed="rId3">
            <a:alphaModFix/>
          </a:blip>
          <a:stretch>
            <a:fillRect/>
          </a:stretch>
        </p:blipFill>
        <p:spPr>
          <a:xfrm>
            <a:off x="6014400" y="1505963"/>
            <a:ext cx="2500950" cy="2987525"/>
          </a:xfrm>
          <a:prstGeom prst="rect">
            <a:avLst/>
          </a:prstGeom>
          <a:noFill/>
          <a:ln>
            <a:noFill/>
          </a:ln>
        </p:spPr>
      </p:pic>
      <p:pic>
        <p:nvPicPr>
          <p:cNvPr id="189" name="Google Shape;189;p28" title="ijerph-15-02194-g001.png"/>
          <p:cNvPicPr preferRelativeResize="0"/>
          <p:nvPr/>
        </p:nvPicPr>
        <p:blipFill rotWithShape="1">
          <a:blip r:embed="rId4">
            <a:alphaModFix/>
          </a:blip>
          <a:srcRect b="7125" l="41755" r="34715" t="20243"/>
          <a:stretch/>
        </p:blipFill>
        <p:spPr>
          <a:xfrm>
            <a:off x="628650" y="1356700"/>
            <a:ext cx="1962378" cy="3286049"/>
          </a:xfrm>
          <a:prstGeom prst="rect">
            <a:avLst/>
          </a:prstGeom>
          <a:noFill/>
          <a:ln>
            <a:noFill/>
          </a:ln>
        </p:spPr>
      </p:pic>
      <p:sp>
        <p:nvSpPr>
          <p:cNvPr id="190" name="Google Shape;190;p28"/>
          <p:cNvSpPr txBox="1"/>
          <p:nvPr/>
        </p:nvSpPr>
        <p:spPr>
          <a:xfrm>
            <a:off x="2902075" y="1849825"/>
            <a:ext cx="2944800" cy="22998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lt1"/>
              </a:buClr>
              <a:buSzPts val="1700"/>
              <a:buAutoNum type="alphaUcPeriod"/>
            </a:pPr>
            <a:r>
              <a:rPr lang="en" sz="1700">
                <a:solidFill>
                  <a:schemeClr val="lt1"/>
                </a:solidFill>
              </a:rPr>
              <a:t>Soma</a:t>
            </a:r>
            <a:endParaRPr sz="1700">
              <a:solidFill>
                <a:schemeClr val="lt1"/>
              </a:solidFill>
            </a:endParaRPr>
          </a:p>
          <a:p>
            <a:pPr indent="-336550" lvl="0" marL="457200" rtl="0" algn="l">
              <a:spcBef>
                <a:spcPts val="0"/>
              </a:spcBef>
              <a:spcAft>
                <a:spcPts val="0"/>
              </a:spcAft>
              <a:buClr>
                <a:schemeClr val="lt1"/>
              </a:buClr>
              <a:buSzPts val="1700"/>
              <a:buAutoNum type="alphaUcPeriod"/>
            </a:pPr>
            <a:r>
              <a:rPr lang="en" sz="1700">
                <a:solidFill>
                  <a:schemeClr val="lt1"/>
                </a:solidFill>
              </a:rPr>
              <a:t>Axon</a:t>
            </a:r>
            <a:endParaRPr sz="1700">
              <a:solidFill>
                <a:schemeClr val="lt1"/>
              </a:solidFill>
            </a:endParaRPr>
          </a:p>
          <a:p>
            <a:pPr indent="-336550" lvl="0" marL="457200" rtl="0" algn="l">
              <a:spcBef>
                <a:spcPts val="0"/>
              </a:spcBef>
              <a:spcAft>
                <a:spcPts val="0"/>
              </a:spcAft>
              <a:buClr>
                <a:schemeClr val="lt1"/>
              </a:buClr>
              <a:buSzPts val="1700"/>
              <a:buAutoNum type="alphaUcPeriod"/>
            </a:pPr>
            <a:r>
              <a:rPr lang="en" sz="1700">
                <a:solidFill>
                  <a:schemeClr val="lt1"/>
                </a:solidFill>
              </a:rPr>
              <a:t>Primary dendrite</a:t>
            </a:r>
            <a:endParaRPr sz="1700">
              <a:solidFill>
                <a:schemeClr val="lt1"/>
              </a:solidFill>
            </a:endParaRPr>
          </a:p>
          <a:p>
            <a:pPr indent="-336550" lvl="0" marL="457200" rtl="0" algn="l">
              <a:spcBef>
                <a:spcPts val="0"/>
              </a:spcBef>
              <a:spcAft>
                <a:spcPts val="0"/>
              </a:spcAft>
              <a:buClr>
                <a:schemeClr val="lt1"/>
              </a:buClr>
              <a:buSzPts val="1700"/>
              <a:buAutoNum type="alphaUcPeriod"/>
            </a:pPr>
            <a:r>
              <a:rPr lang="en" sz="1700">
                <a:solidFill>
                  <a:schemeClr val="lt1"/>
                </a:solidFill>
              </a:rPr>
              <a:t>Glomerular</a:t>
            </a:r>
            <a:r>
              <a:rPr lang="en" sz="1700">
                <a:solidFill>
                  <a:schemeClr val="lt1"/>
                </a:solidFill>
              </a:rPr>
              <a:t> tuft</a:t>
            </a:r>
            <a:endParaRPr sz="1700">
              <a:solidFill>
                <a:schemeClr val="lt1"/>
              </a:solidFill>
            </a:endParaRPr>
          </a:p>
          <a:p>
            <a:pPr indent="-336550" lvl="0" marL="457200" rtl="0" algn="l">
              <a:spcBef>
                <a:spcPts val="0"/>
              </a:spcBef>
              <a:spcAft>
                <a:spcPts val="0"/>
              </a:spcAft>
              <a:buClr>
                <a:schemeClr val="lt1"/>
              </a:buClr>
              <a:buSzPts val="1700"/>
              <a:buAutoNum type="alphaUcPeriod"/>
            </a:pPr>
            <a:r>
              <a:rPr lang="en" sz="1700">
                <a:solidFill>
                  <a:schemeClr val="lt1"/>
                </a:solidFill>
              </a:rPr>
              <a:t>Proximal secondary dendrites</a:t>
            </a:r>
            <a:endParaRPr sz="1700">
              <a:solidFill>
                <a:schemeClr val="lt1"/>
              </a:solidFill>
            </a:endParaRPr>
          </a:p>
          <a:p>
            <a:pPr indent="-336550" lvl="0" marL="457200" rtl="0" algn="l">
              <a:spcBef>
                <a:spcPts val="0"/>
              </a:spcBef>
              <a:spcAft>
                <a:spcPts val="0"/>
              </a:spcAft>
              <a:buClr>
                <a:schemeClr val="lt1"/>
              </a:buClr>
              <a:buSzPts val="1700"/>
              <a:buAutoNum type="alphaUcPeriod"/>
            </a:pPr>
            <a:r>
              <a:rPr lang="en" sz="1700">
                <a:solidFill>
                  <a:schemeClr val="lt1"/>
                </a:solidFill>
              </a:rPr>
              <a:t>Distal secondary dendrites</a:t>
            </a:r>
            <a:endParaRPr sz="1700">
              <a:solidFill>
                <a:schemeClr val="lt1"/>
              </a:solidFill>
            </a:endParaRPr>
          </a:p>
        </p:txBody>
      </p:sp>
      <p:sp>
        <p:nvSpPr>
          <p:cNvPr id="191" name="Google Shape;191;p28"/>
          <p:cNvSpPr txBox="1"/>
          <p:nvPr/>
        </p:nvSpPr>
        <p:spPr>
          <a:xfrm>
            <a:off x="7104325" y="4722050"/>
            <a:ext cx="1770000" cy="3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rPr>
              <a:t>Bhalla and Bower (1993)</a:t>
            </a:r>
            <a:endParaRPr sz="1100">
              <a:solidFill>
                <a:schemeClr val="lt1"/>
              </a:solidFill>
            </a:endParaRPr>
          </a:p>
        </p:txBody>
      </p:sp>
      <p:sp>
        <p:nvSpPr>
          <p:cNvPr id="192" name="Google Shape;192;p28"/>
          <p:cNvSpPr txBox="1"/>
          <p:nvPr/>
        </p:nvSpPr>
        <p:spPr>
          <a:xfrm>
            <a:off x="107600" y="4816375"/>
            <a:ext cx="1851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rPr>
              <a:t>(Harvey &amp; Heinbockel, 2018)</a:t>
            </a:r>
            <a:endParaRPr sz="10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6" name="Shape 196"/>
        <p:cNvGrpSpPr/>
        <p:nvPr/>
      </p:nvGrpSpPr>
      <p:grpSpPr>
        <a:xfrm>
          <a:off x="0" y="0"/>
          <a:ext cx="0" cy="0"/>
          <a:chOff x="0" y="0"/>
          <a:chExt cx="0" cy="0"/>
        </a:xfrm>
      </p:grpSpPr>
      <p:sp>
        <p:nvSpPr>
          <p:cNvPr id="197" name="Google Shape;197;p29"/>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
                <a:solidFill>
                  <a:schemeClr val="lt1"/>
                </a:solidFill>
              </a:rPr>
              <a:t>Reduced Model the Mitral Cell</a:t>
            </a:r>
            <a:endParaRPr>
              <a:solidFill>
                <a:schemeClr val="lt1"/>
              </a:solidFill>
            </a:endParaRPr>
          </a:p>
        </p:txBody>
      </p:sp>
      <p:pic>
        <p:nvPicPr>
          <p:cNvPr id="198" name="Google Shape;198;p29"/>
          <p:cNvPicPr preferRelativeResize="0"/>
          <p:nvPr/>
        </p:nvPicPr>
        <p:blipFill rotWithShape="1">
          <a:blip r:embed="rId3">
            <a:alphaModFix/>
          </a:blip>
          <a:srcRect b="0" l="12977" r="27686" t="0"/>
          <a:stretch/>
        </p:blipFill>
        <p:spPr>
          <a:xfrm>
            <a:off x="578775" y="1400275"/>
            <a:ext cx="1949825" cy="3400425"/>
          </a:xfrm>
          <a:prstGeom prst="rect">
            <a:avLst/>
          </a:prstGeom>
          <a:noFill/>
          <a:ln>
            <a:noFill/>
          </a:ln>
        </p:spPr>
      </p:pic>
      <p:sp>
        <p:nvSpPr>
          <p:cNvPr id="199" name="Google Shape;199;p29"/>
          <p:cNvSpPr txBox="1"/>
          <p:nvPr/>
        </p:nvSpPr>
        <p:spPr>
          <a:xfrm>
            <a:off x="3016875" y="2338950"/>
            <a:ext cx="2944800" cy="15231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lt1"/>
              </a:buClr>
              <a:buSzPts val="1700"/>
              <a:buAutoNum type="alphaUcPeriod"/>
            </a:pPr>
            <a:r>
              <a:rPr lang="en" sz="1700">
                <a:solidFill>
                  <a:schemeClr val="lt1"/>
                </a:solidFill>
              </a:rPr>
              <a:t>Soma</a:t>
            </a:r>
            <a:endParaRPr sz="1700">
              <a:solidFill>
                <a:schemeClr val="lt1"/>
              </a:solidFill>
            </a:endParaRPr>
          </a:p>
          <a:p>
            <a:pPr indent="-336550" lvl="0" marL="457200" rtl="0" algn="l">
              <a:spcBef>
                <a:spcPts val="0"/>
              </a:spcBef>
              <a:spcAft>
                <a:spcPts val="0"/>
              </a:spcAft>
              <a:buClr>
                <a:schemeClr val="lt1"/>
              </a:buClr>
              <a:buSzPts val="1700"/>
              <a:buAutoNum type="alphaUcPeriod"/>
            </a:pPr>
            <a:r>
              <a:rPr lang="en" sz="1700">
                <a:solidFill>
                  <a:schemeClr val="lt1"/>
                </a:solidFill>
              </a:rPr>
              <a:t>Secondary Basal dendrite</a:t>
            </a:r>
            <a:endParaRPr sz="1700">
              <a:solidFill>
                <a:schemeClr val="lt1"/>
              </a:solidFill>
            </a:endParaRPr>
          </a:p>
          <a:p>
            <a:pPr indent="-336550" lvl="0" marL="457200" rtl="0" algn="l">
              <a:spcBef>
                <a:spcPts val="0"/>
              </a:spcBef>
              <a:spcAft>
                <a:spcPts val="0"/>
              </a:spcAft>
              <a:buClr>
                <a:schemeClr val="lt1"/>
              </a:buClr>
              <a:buSzPts val="1700"/>
              <a:buAutoNum type="alphaUcPeriod"/>
            </a:pPr>
            <a:r>
              <a:rPr lang="en" sz="1700">
                <a:solidFill>
                  <a:schemeClr val="lt1"/>
                </a:solidFill>
              </a:rPr>
              <a:t>primary dendrite shaft</a:t>
            </a:r>
            <a:endParaRPr sz="1700">
              <a:solidFill>
                <a:schemeClr val="lt1"/>
              </a:solidFill>
            </a:endParaRPr>
          </a:p>
          <a:p>
            <a:pPr indent="-336550" lvl="0" marL="457200" rtl="0" algn="l">
              <a:spcBef>
                <a:spcPts val="0"/>
              </a:spcBef>
              <a:spcAft>
                <a:spcPts val="0"/>
              </a:spcAft>
              <a:buClr>
                <a:schemeClr val="lt1"/>
              </a:buClr>
              <a:buSzPts val="1700"/>
              <a:buAutoNum type="alphaUcPeriod"/>
            </a:pPr>
            <a:r>
              <a:rPr lang="en" sz="1700">
                <a:solidFill>
                  <a:schemeClr val="lt1"/>
                </a:solidFill>
              </a:rPr>
              <a:t>Glomerular tuft</a:t>
            </a:r>
            <a:endParaRPr sz="1700">
              <a:solidFill>
                <a:schemeClr val="lt1"/>
              </a:solidFill>
            </a:endParaRPr>
          </a:p>
        </p:txBody>
      </p:sp>
      <p:pic>
        <p:nvPicPr>
          <p:cNvPr id="200" name="Google Shape;200;p29"/>
          <p:cNvPicPr preferRelativeResize="0"/>
          <p:nvPr/>
        </p:nvPicPr>
        <p:blipFill>
          <a:blip r:embed="rId4">
            <a:alphaModFix/>
          </a:blip>
          <a:stretch>
            <a:fillRect/>
          </a:stretch>
        </p:blipFill>
        <p:spPr>
          <a:xfrm>
            <a:off x="6263450" y="1409863"/>
            <a:ext cx="2336725" cy="3381262"/>
          </a:xfrm>
          <a:prstGeom prst="rect">
            <a:avLst/>
          </a:prstGeom>
          <a:noFill/>
          <a:ln>
            <a:noFill/>
          </a:ln>
        </p:spPr>
      </p:pic>
      <p:sp>
        <p:nvSpPr>
          <p:cNvPr id="201" name="Google Shape;201;p29"/>
          <p:cNvSpPr txBox="1"/>
          <p:nvPr/>
        </p:nvSpPr>
        <p:spPr>
          <a:xfrm>
            <a:off x="6182800" y="4827900"/>
            <a:ext cx="2141400" cy="31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lt1"/>
                </a:solidFill>
              </a:rPr>
              <a:t>Davison et al. (2000)</a:t>
            </a:r>
            <a:endParaRPr sz="1100">
              <a:solidFill>
                <a:schemeClr val="lt1"/>
              </a:solidFill>
            </a:endParaRPr>
          </a:p>
        </p:txBody>
      </p:sp>
      <p:sp>
        <p:nvSpPr>
          <p:cNvPr id="202" name="Google Shape;202;p29"/>
          <p:cNvSpPr txBox="1"/>
          <p:nvPr/>
        </p:nvSpPr>
        <p:spPr>
          <a:xfrm>
            <a:off x="387200" y="4800700"/>
            <a:ext cx="2141400" cy="3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rPr>
              <a:t>Bhalla and Bower (1993)</a:t>
            </a:r>
            <a:endParaRPr sz="11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6" name="Shape 206"/>
        <p:cNvGrpSpPr/>
        <p:nvPr/>
      </p:nvGrpSpPr>
      <p:grpSpPr>
        <a:xfrm>
          <a:off x="0" y="0"/>
          <a:ext cx="0" cy="0"/>
          <a:chOff x="0" y="0"/>
          <a:chExt cx="0" cy="0"/>
        </a:xfrm>
      </p:grpSpPr>
      <p:sp>
        <p:nvSpPr>
          <p:cNvPr id="207" name="Google Shape;207;p30"/>
          <p:cNvSpPr txBox="1"/>
          <p:nvPr>
            <p:ph type="title"/>
          </p:nvPr>
        </p:nvSpPr>
        <p:spPr>
          <a:xfrm>
            <a:off x="985500" y="96025"/>
            <a:ext cx="7173000" cy="9942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
                <a:solidFill>
                  <a:schemeClr val="lt1"/>
                </a:solidFill>
              </a:rPr>
              <a:t>Passive model of mitral cell</a:t>
            </a:r>
            <a:endParaRPr>
              <a:solidFill>
                <a:schemeClr val="lt1"/>
              </a:solidFill>
            </a:endParaRPr>
          </a:p>
        </p:txBody>
      </p:sp>
      <p:pic>
        <p:nvPicPr>
          <p:cNvPr id="208" name="Google Shape;208;p30"/>
          <p:cNvPicPr preferRelativeResize="0"/>
          <p:nvPr/>
        </p:nvPicPr>
        <p:blipFill>
          <a:blip r:embed="rId3">
            <a:alphaModFix/>
          </a:blip>
          <a:stretch>
            <a:fillRect/>
          </a:stretch>
        </p:blipFill>
        <p:spPr>
          <a:xfrm>
            <a:off x="1342376" y="1011225"/>
            <a:ext cx="6459250" cy="3847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2" name="Shape 212"/>
        <p:cNvGrpSpPr/>
        <p:nvPr/>
      </p:nvGrpSpPr>
      <p:grpSpPr>
        <a:xfrm>
          <a:off x="0" y="0"/>
          <a:ext cx="0" cy="0"/>
          <a:chOff x="0" y="0"/>
          <a:chExt cx="0" cy="0"/>
        </a:xfrm>
      </p:grpSpPr>
      <p:sp>
        <p:nvSpPr>
          <p:cNvPr id="213" name="Google Shape;213;p31"/>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
                <a:solidFill>
                  <a:schemeClr val="lt1"/>
                </a:solidFill>
              </a:rPr>
              <a:t>Active model of</a:t>
            </a:r>
            <a:r>
              <a:rPr lang="en">
                <a:solidFill>
                  <a:schemeClr val="lt1"/>
                </a:solidFill>
              </a:rPr>
              <a:t> the Mitral Cell</a:t>
            </a:r>
            <a:endParaRPr>
              <a:solidFill>
                <a:schemeClr val="lt1"/>
              </a:solidFill>
            </a:endParaRPr>
          </a:p>
        </p:txBody>
      </p:sp>
      <p:pic>
        <p:nvPicPr>
          <p:cNvPr id="214" name="Google Shape;214;p31"/>
          <p:cNvPicPr preferRelativeResize="0"/>
          <p:nvPr/>
        </p:nvPicPr>
        <p:blipFill>
          <a:blip r:embed="rId3">
            <a:alphaModFix/>
          </a:blip>
          <a:stretch>
            <a:fillRect/>
          </a:stretch>
        </p:blipFill>
        <p:spPr>
          <a:xfrm>
            <a:off x="422200" y="1392038"/>
            <a:ext cx="2336725" cy="3381262"/>
          </a:xfrm>
          <a:prstGeom prst="rect">
            <a:avLst/>
          </a:prstGeom>
          <a:noFill/>
          <a:ln>
            <a:noFill/>
          </a:ln>
        </p:spPr>
      </p:pic>
      <p:sp>
        <p:nvSpPr>
          <p:cNvPr id="215" name="Google Shape;215;p31"/>
          <p:cNvSpPr txBox="1"/>
          <p:nvPr>
            <p:ph idx="1" type="body"/>
          </p:nvPr>
        </p:nvSpPr>
        <p:spPr>
          <a:xfrm>
            <a:off x="3219875" y="1369225"/>
            <a:ext cx="5295600" cy="3263400"/>
          </a:xfrm>
          <a:prstGeom prst="rect">
            <a:avLst/>
          </a:prstGeom>
          <a:noFill/>
          <a:ln>
            <a:noFill/>
          </a:ln>
        </p:spPr>
        <p:txBody>
          <a:bodyPr anchorCtr="0" anchor="t" bIns="34275" lIns="68575" spcFirstLastPara="1" rIns="68575" wrap="square" tIns="34275">
            <a:normAutofit/>
          </a:bodyPr>
          <a:lstStyle/>
          <a:p>
            <a:pPr indent="-317500" lvl="0" marL="457200" rtl="0" algn="l">
              <a:lnSpc>
                <a:spcPct val="90000"/>
              </a:lnSpc>
              <a:spcBef>
                <a:spcPts val="800"/>
              </a:spcBef>
              <a:spcAft>
                <a:spcPts val="0"/>
              </a:spcAft>
              <a:buClr>
                <a:schemeClr val="lt1"/>
              </a:buClr>
              <a:buSzPts val="1400"/>
              <a:buChar char="-"/>
            </a:pPr>
            <a:r>
              <a:t/>
            </a:r>
            <a:endParaRPr>
              <a:solidFill>
                <a:schemeClr val="lt1"/>
              </a:solidFill>
            </a:endParaRPr>
          </a:p>
        </p:txBody>
      </p:sp>
      <p:pic>
        <p:nvPicPr>
          <p:cNvPr id="216" name="Google Shape;216;p31"/>
          <p:cNvPicPr preferRelativeResize="0"/>
          <p:nvPr/>
        </p:nvPicPr>
        <p:blipFill>
          <a:blip r:embed="rId4">
            <a:alphaModFix/>
          </a:blip>
          <a:stretch>
            <a:fillRect/>
          </a:stretch>
        </p:blipFill>
        <p:spPr>
          <a:xfrm>
            <a:off x="2971550" y="1380650"/>
            <a:ext cx="5792240" cy="3404074"/>
          </a:xfrm>
          <a:prstGeom prst="rect">
            <a:avLst/>
          </a:prstGeom>
          <a:noFill/>
          <a:ln>
            <a:noFill/>
          </a:ln>
        </p:spPr>
      </p:pic>
      <p:pic>
        <p:nvPicPr>
          <p:cNvPr id="217" name="Google Shape;217;p31"/>
          <p:cNvPicPr preferRelativeResize="0"/>
          <p:nvPr/>
        </p:nvPicPr>
        <p:blipFill>
          <a:blip r:embed="rId5">
            <a:alphaModFix/>
          </a:blip>
          <a:stretch>
            <a:fillRect/>
          </a:stretch>
        </p:blipFill>
        <p:spPr>
          <a:xfrm>
            <a:off x="2973604" y="1381912"/>
            <a:ext cx="5788153" cy="3401568"/>
          </a:xfrm>
          <a:prstGeom prst="rect">
            <a:avLst/>
          </a:prstGeom>
          <a:noFill/>
          <a:ln>
            <a:noFill/>
          </a:ln>
        </p:spPr>
      </p:pic>
      <p:sp>
        <p:nvSpPr>
          <p:cNvPr id="218" name="Google Shape;218;p31"/>
          <p:cNvSpPr txBox="1"/>
          <p:nvPr/>
        </p:nvSpPr>
        <p:spPr>
          <a:xfrm>
            <a:off x="300425" y="4827900"/>
            <a:ext cx="2141400" cy="31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lt1"/>
                </a:solidFill>
              </a:rPr>
              <a:t>Davison et al. (2000)</a:t>
            </a:r>
            <a:endParaRPr sz="11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1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2" name="Shape 222"/>
        <p:cNvGrpSpPr/>
        <p:nvPr/>
      </p:nvGrpSpPr>
      <p:grpSpPr>
        <a:xfrm>
          <a:off x="0" y="0"/>
          <a:ext cx="0" cy="0"/>
          <a:chOff x="0" y="0"/>
          <a:chExt cx="0" cy="0"/>
        </a:xfrm>
      </p:grpSpPr>
      <p:sp>
        <p:nvSpPr>
          <p:cNvPr id="223" name="Google Shape;223;p32"/>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
                <a:solidFill>
                  <a:schemeClr val="lt1"/>
                </a:solidFill>
              </a:rPr>
              <a:t>Addition of Granule cells to the model</a:t>
            </a:r>
            <a:endParaRPr>
              <a:solidFill>
                <a:schemeClr val="lt1"/>
              </a:solidFill>
            </a:endParaRPr>
          </a:p>
        </p:txBody>
      </p:sp>
      <p:sp>
        <p:nvSpPr>
          <p:cNvPr id="224" name="Google Shape;224;p32"/>
          <p:cNvSpPr txBox="1"/>
          <p:nvPr>
            <p:ph idx="1" type="body"/>
          </p:nvPr>
        </p:nvSpPr>
        <p:spPr>
          <a:xfrm>
            <a:off x="425100" y="1369250"/>
            <a:ext cx="5403000" cy="3263400"/>
          </a:xfrm>
          <a:prstGeom prst="rect">
            <a:avLst/>
          </a:prstGeom>
        </p:spPr>
        <p:txBody>
          <a:bodyPr anchorCtr="0" anchor="t" bIns="34275" lIns="68575" spcFirstLastPara="1" rIns="68575" wrap="square" tIns="34275">
            <a:normAutofit fontScale="85000"/>
          </a:bodyPr>
          <a:lstStyle/>
          <a:p>
            <a:pPr indent="-304165" lvl="0" marL="457200" rtl="0" algn="l">
              <a:lnSpc>
                <a:spcPct val="150000"/>
              </a:lnSpc>
              <a:spcBef>
                <a:spcPts val="800"/>
              </a:spcBef>
              <a:spcAft>
                <a:spcPts val="0"/>
              </a:spcAft>
              <a:buClr>
                <a:schemeClr val="lt1"/>
              </a:buClr>
              <a:buSzPct val="66667"/>
              <a:buChar char="-"/>
            </a:pPr>
            <a:r>
              <a:rPr lang="en">
                <a:solidFill>
                  <a:schemeClr val="lt1"/>
                </a:solidFill>
              </a:rPr>
              <a:t>Properties of the granule cell added:</a:t>
            </a:r>
            <a:endParaRPr>
              <a:solidFill>
                <a:schemeClr val="lt1"/>
              </a:solidFill>
            </a:endParaRPr>
          </a:p>
          <a:p>
            <a:pPr indent="-304165" lvl="1" marL="914400" rtl="0" algn="l">
              <a:lnSpc>
                <a:spcPct val="150000"/>
              </a:lnSpc>
              <a:spcBef>
                <a:spcPts val="0"/>
              </a:spcBef>
              <a:spcAft>
                <a:spcPts val="0"/>
              </a:spcAft>
              <a:buClr>
                <a:schemeClr val="lt1"/>
              </a:buClr>
              <a:buSzPct val="77778"/>
              <a:buChar char="-"/>
            </a:pPr>
            <a:r>
              <a:rPr lang="en">
                <a:solidFill>
                  <a:schemeClr val="lt1"/>
                </a:solidFill>
              </a:rPr>
              <a:t>Single compartment</a:t>
            </a:r>
            <a:endParaRPr>
              <a:solidFill>
                <a:schemeClr val="lt1"/>
              </a:solidFill>
            </a:endParaRPr>
          </a:p>
          <a:p>
            <a:pPr indent="-304165" lvl="1" marL="914400" rtl="0" algn="l">
              <a:lnSpc>
                <a:spcPct val="150000"/>
              </a:lnSpc>
              <a:spcBef>
                <a:spcPts val="0"/>
              </a:spcBef>
              <a:spcAft>
                <a:spcPts val="0"/>
              </a:spcAft>
              <a:buClr>
                <a:schemeClr val="lt1"/>
              </a:buClr>
              <a:buSzPct val="77778"/>
              <a:buChar char="-"/>
            </a:pPr>
            <a:r>
              <a:rPr lang="en">
                <a:solidFill>
                  <a:schemeClr val="lt1"/>
                </a:solidFill>
              </a:rPr>
              <a:t>Spherical. (r = 7.5 µm)</a:t>
            </a:r>
            <a:endParaRPr>
              <a:solidFill>
                <a:schemeClr val="lt1"/>
              </a:solidFill>
            </a:endParaRPr>
          </a:p>
          <a:p>
            <a:pPr indent="-304165" lvl="1" marL="914400" rtl="0" algn="l">
              <a:lnSpc>
                <a:spcPct val="150000"/>
              </a:lnSpc>
              <a:spcBef>
                <a:spcPts val="0"/>
              </a:spcBef>
              <a:spcAft>
                <a:spcPts val="0"/>
              </a:spcAft>
              <a:buClr>
                <a:schemeClr val="lt1"/>
              </a:buClr>
              <a:buSzPct val="77778"/>
              <a:buChar char="-"/>
            </a:pPr>
            <a:r>
              <a:rPr lang="en">
                <a:solidFill>
                  <a:schemeClr val="lt1"/>
                </a:solidFill>
              </a:rPr>
              <a:t>SA = 700 µm², cm = 1 µF/cm², Ra = 35.4 Ω·cm</a:t>
            </a:r>
            <a:endParaRPr>
              <a:solidFill>
                <a:schemeClr val="lt1"/>
              </a:solidFill>
            </a:endParaRPr>
          </a:p>
          <a:p>
            <a:pPr indent="-304165" lvl="1" marL="914400" rtl="0" algn="l">
              <a:lnSpc>
                <a:spcPct val="150000"/>
              </a:lnSpc>
              <a:spcBef>
                <a:spcPts val="0"/>
              </a:spcBef>
              <a:spcAft>
                <a:spcPts val="0"/>
              </a:spcAft>
              <a:buClr>
                <a:schemeClr val="lt1"/>
              </a:buClr>
              <a:buSzPct val="77778"/>
              <a:buChar char="-"/>
            </a:pPr>
            <a:r>
              <a:rPr lang="en">
                <a:solidFill>
                  <a:schemeClr val="lt1"/>
                </a:solidFill>
              </a:rPr>
              <a:t>Passive membrane: I</a:t>
            </a:r>
            <a:r>
              <a:rPr baseline="-25000" lang="en">
                <a:solidFill>
                  <a:schemeClr val="lt1"/>
                </a:solidFill>
              </a:rPr>
              <a:t>leak</a:t>
            </a:r>
            <a:r>
              <a:rPr lang="en">
                <a:solidFill>
                  <a:schemeClr val="lt1"/>
                </a:solidFill>
              </a:rPr>
              <a:t>​=g</a:t>
            </a:r>
            <a:r>
              <a:rPr baseline="-25000" lang="en">
                <a:solidFill>
                  <a:schemeClr val="lt1"/>
                </a:solidFill>
              </a:rPr>
              <a:t>pas​</a:t>
            </a:r>
            <a:r>
              <a:rPr lang="en">
                <a:solidFill>
                  <a:schemeClr val="lt1"/>
                </a:solidFill>
              </a:rPr>
              <a:t>(V−E</a:t>
            </a:r>
            <a:r>
              <a:rPr baseline="-25000" lang="en">
                <a:solidFill>
                  <a:schemeClr val="lt1"/>
                </a:solidFill>
              </a:rPr>
              <a:t>pas</a:t>
            </a:r>
            <a:r>
              <a:rPr lang="en">
                <a:solidFill>
                  <a:schemeClr val="lt1"/>
                </a:solidFill>
              </a:rPr>
              <a:t>​)</a:t>
            </a:r>
            <a:endParaRPr>
              <a:solidFill>
                <a:schemeClr val="lt1"/>
              </a:solidFill>
            </a:endParaRPr>
          </a:p>
          <a:p>
            <a:pPr indent="-304165" lvl="1" marL="914400" rtl="0" algn="l">
              <a:lnSpc>
                <a:spcPct val="150000"/>
              </a:lnSpc>
              <a:spcBef>
                <a:spcPts val="0"/>
              </a:spcBef>
              <a:spcAft>
                <a:spcPts val="0"/>
              </a:spcAft>
              <a:buClr>
                <a:schemeClr val="lt1"/>
              </a:buClr>
              <a:buSzPct val="77778"/>
              <a:buChar char="-"/>
            </a:pPr>
            <a:r>
              <a:rPr lang="en">
                <a:solidFill>
                  <a:schemeClr val="lt1"/>
                </a:solidFill>
              </a:rPr>
              <a:t>g</a:t>
            </a:r>
            <a:r>
              <a:rPr baseline="-25000" lang="en">
                <a:solidFill>
                  <a:schemeClr val="lt1"/>
                </a:solidFill>
              </a:rPr>
              <a:t>pas</a:t>
            </a:r>
            <a:r>
              <a:rPr lang="en">
                <a:solidFill>
                  <a:schemeClr val="lt1"/>
                </a:solidFill>
              </a:rPr>
              <a:t>= 0.0001 S/cm² (NEURON's default leak conductance)</a:t>
            </a:r>
            <a:endParaRPr>
              <a:solidFill>
                <a:schemeClr val="lt1"/>
              </a:solidFill>
            </a:endParaRPr>
          </a:p>
          <a:p>
            <a:pPr indent="-304165" lvl="1" marL="914400" rtl="0" algn="l">
              <a:lnSpc>
                <a:spcPct val="150000"/>
              </a:lnSpc>
              <a:spcBef>
                <a:spcPts val="0"/>
              </a:spcBef>
              <a:spcAft>
                <a:spcPts val="0"/>
              </a:spcAft>
              <a:buClr>
                <a:schemeClr val="lt1"/>
              </a:buClr>
              <a:buSzPct val="77778"/>
              <a:buChar char="-"/>
            </a:pPr>
            <a:r>
              <a:rPr lang="en">
                <a:solidFill>
                  <a:schemeClr val="lt1"/>
                </a:solidFill>
              </a:rPr>
              <a:t>E</a:t>
            </a:r>
            <a:r>
              <a:rPr baseline="-25000" lang="en">
                <a:solidFill>
                  <a:schemeClr val="lt1"/>
                </a:solidFill>
              </a:rPr>
              <a:t>leak</a:t>
            </a:r>
            <a:r>
              <a:rPr lang="en">
                <a:solidFill>
                  <a:schemeClr val="lt1"/>
                </a:solidFill>
              </a:rPr>
              <a:t>​= −65 mV</a:t>
            </a:r>
            <a:endParaRPr>
              <a:solidFill>
                <a:schemeClr val="lt1"/>
              </a:solidFill>
            </a:endParaRPr>
          </a:p>
          <a:p>
            <a:pPr indent="-304165" lvl="1" marL="914400" rtl="0" algn="l">
              <a:lnSpc>
                <a:spcPct val="150000"/>
              </a:lnSpc>
              <a:spcBef>
                <a:spcPts val="0"/>
              </a:spcBef>
              <a:spcAft>
                <a:spcPts val="0"/>
              </a:spcAft>
              <a:buClr>
                <a:schemeClr val="lt1"/>
              </a:buClr>
              <a:buSzPct val="77778"/>
              <a:buChar char="-"/>
            </a:pPr>
            <a:r>
              <a:rPr lang="en">
                <a:solidFill>
                  <a:schemeClr val="lt1"/>
                </a:solidFill>
              </a:rPr>
              <a:t>HH active channels</a:t>
            </a:r>
            <a:endParaRPr>
              <a:solidFill>
                <a:schemeClr val="lt1"/>
              </a:solidFill>
            </a:endParaRPr>
          </a:p>
        </p:txBody>
      </p:sp>
      <p:sp>
        <p:nvSpPr>
          <p:cNvPr id="225" name="Google Shape;225;p32"/>
          <p:cNvSpPr txBox="1"/>
          <p:nvPr/>
        </p:nvSpPr>
        <p:spPr>
          <a:xfrm>
            <a:off x="6068525" y="2016825"/>
            <a:ext cx="2368200" cy="1736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sz="1800">
                <a:solidFill>
                  <a:srgbClr val="00E5FF"/>
                </a:solidFill>
              </a:rPr>
              <a:t>It is </a:t>
            </a:r>
            <a:r>
              <a:rPr b="1" lang="en" sz="1800">
                <a:solidFill>
                  <a:srgbClr val="00E5FF"/>
                </a:solidFill>
              </a:rPr>
              <a:t>not</a:t>
            </a:r>
            <a:r>
              <a:rPr lang="en" sz="1800">
                <a:solidFill>
                  <a:srgbClr val="00E5FF"/>
                </a:solidFill>
              </a:rPr>
              <a:t> a detailed granule cell. It is closer to a </a:t>
            </a:r>
            <a:r>
              <a:rPr b="1" lang="en" sz="1800" u="sng">
                <a:solidFill>
                  <a:srgbClr val="00E5FF"/>
                </a:solidFill>
              </a:rPr>
              <a:t>generic spiking inhibitory interneuron</a:t>
            </a:r>
            <a:r>
              <a:rPr lang="en" sz="1800">
                <a:solidFill>
                  <a:srgbClr val="00E5FF"/>
                </a:solidFill>
              </a:rPr>
              <a:t>.</a:t>
            </a:r>
            <a:endParaRPr sz="1800">
              <a:solidFill>
                <a:srgbClr val="00E5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9" name="Shape 229"/>
        <p:cNvGrpSpPr/>
        <p:nvPr/>
      </p:nvGrpSpPr>
      <p:grpSpPr>
        <a:xfrm>
          <a:off x="0" y="0"/>
          <a:ext cx="0" cy="0"/>
          <a:chOff x="0" y="0"/>
          <a:chExt cx="0" cy="0"/>
        </a:xfrm>
      </p:grpSpPr>
      <p:sp>
        <p:nvSpPr>
          <p:cNvPr id="230" name="Google Shape;230;p33"/>
          <p:cNvSpPr txBox="1"/>
          <p:nvPr>
            <p:ph type="title"/>
          </p:nvPr>
        </p:nvSpPr>
        <p:spPr>
          <a:xfrm>
            <a:off x="628650" y="113599"/>
            <a:ext cx="7886700" cy="7887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
                <a:solidFill>
                  <a:schemeClr val="lt1"/>
                </a:solidFill>
              </a:rPr>
              <a:t>Addition of Granule cells to the model</a:t>
            </a:r>
            <a:endParaRPr>
              <a:solidFill>
                <a:schemeClr val="lt1"/>
              </a:solidFill>
            </a:endParaRPr>
          </a:p>
        </p:txBody>
      </p:sp>
      <p:pic>
        <p:nvPicPr>
          <p:cNvPr id="231" name="Google Shape;231;p33" title="mitral_animation.gif"/>
          <p:cNvPicPr preferRelativeResize="0"/>
          <p:nvPr/>
        </p:nvPicPr>
        <p:blipFill>
          <a:blip r:embed="rId3">
            <a:alphaModFix/>
          </a:blip>
          <a:stretch>
            <a:fillRect/>
          </a:stretch>
        </p:blipFill>
        <p:spPr>
          <a:xfrm>
            <a:off x="1070700" y="902300"/>
            <a:ext cx="7002601" cy="40014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5" name="Shape 235"/>
        <p:cNvGrpSpPr/>
        <p:nvPr/>
      </p:nvGrpSpPr>
      <p:grpSpPr>
        <a:xfrm>
          <a:off x="0" y="0"/>
          <a:ext cx="0" cy="0"/>
          <a:chOff x="0" y="0"/>
          <a:chExt cx="0" cy="0"/>
        </a:xfrm>
      </p:grpSpPr>
      <p:sp>
        <p:nvSpPr>
          <p:cNvPr id="236" name="Google Shape;236;p34"/>
          <p:cNvSpPr txBox="1"/>
          <p:nvPr>
            <p:ph type="title"/>
          </p:nvPr>
        </p:nvSpPr>
        <p:spPr>
          <a:xfrm>
            <a:off x="362875" y="118575"/>
            <a:ext cx="8551500" cy="9942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 sz="2900">
                <a:solidFill>
                  <a:schemeClr val="lt1"/>
                </a:solidFill>
              </a:rPr>
              <a:t>Granule cells’ firing latency is biologically accurate</a:t>
            </a:r>
            <a:endParaRPr sz="2900">
              <a:solidFill>
                <a:schemeClr val="lt1"/>
              </a:solidFill>
            </a:endParaRPr>
          </a:p>
        </p:txBody>
      </p:sp>
      <p:pic>
        <p:nvPicPr>
          <p:cNvPr id="237" name="Google Shape;237;p34"/>
          <p:cNvPicPr preferRelativeResize="0"/>
          <p:nvPr/>
        </p:nvPicPr>
        <p:blipFill>
          <a:blip r:embed="rId3">
            <a:alphaModFix/>
          </a:blip>
          <a:stretch>
            <a:fillRect/>
          </a:stretch>
        </p:blipFill>
        <p:spPr>
          <a:xfrm>
            <a:off x="1499400" y="978200"/>
            <a:ext cx="6145200" cy="38883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41" name="Shape 241"/>
        <p:cNvGrpSpPr/>
        <p:nvPr/>
      </p:nvGrpSpPr>
      <p:grpSpPr>
        <a:xfrm>
          <a:off x="0" y="0"/>
          <a:ext cx="0" cy="0"/>
          <a:chOff x="0" y="0"/>
          <a:chExt cx="0" cy="0"/>
        </a:xfrm>
      </p:grpSpPr>
      <p:sp>
        <p:nvSpPr>
          <p:cNvPr id="242" name="Google Shape;242;p35"/>
          <p:cNvSpPr txBox="1"/>
          <p:nvPr>
            <p:ph type="title"/>
          </p:nvPr>
        </p:nvSpPr>
        <p:spPr>
          <a:xfrm>
            <a:off x="374275" y="0"/>
            <a:ext cx="8487900" cy="9942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 sz="2400">
                <a:solidFill>
                  <a:schemeClr val="lt1"/>
                </a:solidFill>
              </a:rPr>
              <a:t>Various connections of GC does NOT reflect in their firing</a:t>
            </a:r>
            <a:endParaRPr sz="2400">
              <a:solidFill>
                <a:schemeClr val="lt1"/>
              </a:solidFill>
            </a:endParaRPr>
          </a:p>
        </p:txBody>
      </p:sp>
      <p:grpSp>
        <p:nvGrpSpPr>
          <p:cNvPr id="243" name="Google Shape;243;p35"/>
          <p:cNvGrpSpPr/>
          <p:nvPr/>
        </p:nvGrpSpPr>
        <p:grpSpPr>
          <a:xfrm>
            <a:off x="1266950" y="821400"/>
            <a:ext cx="6702551" cy="4087397"/>
            <a:chOff x="1266950" y="968100"/>
            <a:chExt cx="6702551" cy="4087397"/>
          </a:xfrm>
        </p:grpSpPr>
        <p:pic>
          <p:nvPicPr>
            <p:cNvPr id="244" name="Google Shape;244;p35"/>
            <p:cNvPicPr preferRelativeResize="0"/>
            <p:nvPr/>
          </p:nvPicPr>
          <p:blipFill rotWithShape="1">
            <a:blip r:embed="rId3">
              <a:alphaModFix/>
            </a:blip>
            <a:srcRect b="75855" l="0" r="823" t="0"/>
            <a:stretch/>
          </p:blipFill>
          <p:spPr>
            <a:xfrm>
              <a:off x="1266950" y="968100"/>
              <a:ext cx="6702551" cy="3823401"/>
            </a:xfrm>
            <a:prstGeom prst="rect">
              <a:avLst/>
            </a:prstGeom>
            <a:noFill/>
            <a:ln>
              <a:noFill/>
            </a:ln>
          </p:spPr>
        </p:pic>
        <p:pic>
          <p:nvPicPr>
            <p:cNvPr id="245" name="Google Shape;245;p35"/>
            <p:cNvPicPr preferRelativeResize="0"/>
            <p:nvPr/>
          </p:nvPicPr>
          <p:blipFill rotWithShape="1">
            <a:blip r:embed="rId3">
              <a:alphaModFix/>
            </a:blip>
            <a:srcRect b="283" l="228" r="595" t="98049"/>
            <a:stretch/>
          </p:blipFill>
          <p:spPr>
            <a:xfrm>
              <a:off x="1266950" y="4791500"/>
              <a:ext cx="6702551" cy="263997"/>
            </a:xfrm>
            <a:prstGeom prst="rect">
              <a:avLst/>
            </a:prstGeom>
            <a:noFill/>
            <a:ln>
              <a:noFill/>
            </a:ln>
          </p:spPr>
        </p:pic>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49" name="Shape 249"/>
        <p:cNvGrpSpPr/>
        <p:nvPr/>
      </p:nvGrpSpPr>
      <p:grpSpPr>
        <a:xfrm>
          <a:off x="0" y="0"/>
          <a:ext cx="0" cy="0"/>
          <a:chOff x="0" y="0"/>
          <a:chExt cx="0" cy="0"/>
        </a:xfrm>
      </p:grpSpPr>
      <p:sp>
        <p:nvSpPr>
          <p:cNvPr id="250" name="Google Shape;250;p36"/>
          <p:cNvSpPr txBox="1"/>
          <p:nvPr>
            <p:ph type="title"/>
          </p:nvPr>
        </p:nvSpPr>
        <p:spPr>
          <a:xfrm>
            <a:off x="628650" y="1508857"/>
            <a:ext cx="7886700" cy="21258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
                <a:solidFill>
                  <a:schemeClr val="lt1"/>
                </a:solidFill>
              </a:rPr>
              <a:t>Requirement of more biologically relevant model reflecting the connections in their activity!</a:t>
            </a:r>
            <a:endParaRPr>
              <a:solidFill>
                <a:schemeClr val="lt1"/>
              </a:solidFill>
            </a:endParaRPr>
          </a:p>
          <a:p>
            <a:pPr indent="0" lvl="0" marL="0" rtl="0" algn="ctr">
              <a:spcBef>
                <a:spcPts val="0"/>
              </a:spcBef>
              <a:spcAft>
                <a:spcPts val="0"/>
              </a:spcAft>
              <a:buNone/>
            </a:pPr>
            <a:r>
              <a:t/>
            </a:r>
            <a:endParaRPr>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4" name="Shape 254"/>
        <p:cNvGrpSpPr/>
        <p:nvPr/>
      </p:nvGrpSpPr>
      <p:grpSpPr>
        <a:xfrm>
          <a:off x="0" y="0"/>
          <a:ext cx="0" cy="0"/>
          <a:chOff x="0" y="0"/>
          <a:chExt cx="0" cy="0"/>
        </a:xfrm>
      </p:grpSpPr>
      <p:sp>
        <p:nvSpPr>
          <p:cNvPr id="255" name="Google Shape;255;p37"/>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solidFill>
                  <a:schemeClr val="lt1"/>
                </a:solidFill>
              </a:rPr>
              <a:t>More complex morphologies</a:t>
            </a:r>
            <a:endParaRPr>
              <a:solidFill>
                <a:schemeClr val="lt1"/>
              </a:solidFill>
            </a:endParaRPr>
          </a:p>
        </p:txBody>
      </p:sp>
      <p:sp>
        <p:nvSpPr>
          <p:cNvPr id="256" name="Google Shape;256;p37"/>
          <p:cNvSpPr txBox="1"/>
          <p:nvPr/>
        </p:nvSpPr>
        <p:spPr>
          <a:xfrm>
            <a:off x="381700" y="1166950"/>
            <a:ext cx="4944600" cy="3560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Char char="●"/>
            </a:pPr>
            <a:r>
              <a:rPr lang="en">
                <a:solidFill>
                  <a:schemeClr val="lt1"/>
                </a:solidFill>
              </a:rPr>
              <a:t>150 - 200 compartments in MC, 20-30 compartments in GC</a:t>
            </a:r>
            <a:endParaRPr>
              <a:solidFill>
                <a:schemeClr val="lt1"/>
              </a:solidFill>
            </a:endParaRPr>
          </a:p>
          <a:p>
            <a:pPr indent="0" lvl="0" marL="457200" rtl="0" algn="l">
              <a:spcBef>
                <a:spcPts val="0"/>
              </a:spcBef>
              <a:spcAft>
                <a:spcPts val="0"/>
              </a:spcAft>
              <a:buNone/>
            </a:pPr>
            <a:r>
              <a:t/>
            </a:r>
            <a:endParaRPr>
              <a:solidFill>
                <a:schemeClr val="lt1"/>
              </a:solidFill>
            </a:endParaRPr>
          </a:p>
          <a:p>
            <a:pPr indent="-317500" lvl="0" marL="457200" rtl="0" algn="l">
              <a:spcBef>
                <a:spcPts val="0"/>
              </a:spcBef>
              <a:spcAft>
                <a:spcPts val="0"/>
              </a:spcAft>
              <a:buClr>
                <a:schemeClr val="lt1"/>
              </a:buClr>
              <a:buSzPts val="1400"/>
              <a:buChar char="●"/>
            </a:pPr>
            <a:r>
              <a:rPr lang="en">
                <a:solidFill>
                  <a:schemeClr val="lt1"/>
                </a:solidFill>
              </a:rPr>
              <a:t>Simulated 25 different motifs (5MCs, 5GCs)</a:t>
            </a:r>
            <a:endParaRPr>
              <a:solidFill>
                <a:schemeClr val="lt1"/>
              </a:solidFill>
            </a:endParaRPr>
          </a:p>
          <a:p>
            <a:pPr indent="0" lvl="0" marL="457200" rtl="0" algn="l">
              <a:spcBef>
                <a:spcPts val="0"/>
              </a:spcBef>
              <a:spcAft>
                <a:spcPts val="0"/>
              </a:spcAft>
              <a:buNone/>
            </a:pPr>
            <a:r>
              <a:t/>
            </a:r>
            <a:endParaRPr>
              <a:solidFill>
                <a:schemeClr val="lt1"/>
              </a:solidFill>
            </a:endParaRPr>
          </a:p>
          <a:p>
            <a:pPr indent="-317500" lvl="0" marL="457200" rtl="0" algn="l">
              <a:spcBef>
                <a:spcPts val="0"/>
              </a:spcBef>
              <a:spcAft>
                <a:spcPts val="0"/>
              </a:spcAft>
              <a:buClr>
                <a:schemeClr val="lt1"/>
              </a:buClr>
              <a:buSzPts val="1400"/>
              <a:buChar char="●"/>
            </a:pPr>
            <a:r>
              <a:rPr lang="en">
                <a:solidFill>
                  <a:schemeClr val="lt1"/>
                </a:solidFill>
              </a:rPr>
              <a:t>Mitral Cell (MC1) Ion Channel Distributions </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Somatic: KA, KCa, Kd, Kslow, LCa, Na</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Apical: CaT, Ih, KA, KCa, Kd, Kslow, LCa, Na</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Basal: KA, KCa, Kd, Kslow, LCa, Na</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Axonal: KA, KCa, Kd, Kslow, LCa, Na</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t/>
            </a:r>
            <a:endParaRPr>
              <a:solidFill>
                <a:schemeClr val="lt1"/>
              </a:solidFill>
            </a:endParaRPr>
          </a:p>
          <a:p>
            <a:pPr indent="-317500" lvl="0" marL="457200" rtl="0" algn="l">
              <a:spcBef>
                <a:spcPts val="0"/>
              </a:spcBef>
              <a:spcAft>
                <a:spcPts val="0"/>
              </a:spcAft>
              <a:buClr>
                <a:schemeClr val="lt1"/>
              </a:buClr>
              <a:buSzPts val="1400"/>
              <a:buChar char="●"/>
            </a:pPr>
            <a:r>
              <a:rPr lang="en">
                <a:solidFill>
                  <a:schemeClr val="lt1"/>
                </a:solidFill>
              </a:rPr>
              <a:t>Granule Cell (GC1) Ion Channel Distributions </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Somatic: KA, Kd, KM, Na</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Apical: Kd, Na</a:t>
            </a:r>
            <a:endParaRPr>
              <a:solidFill>
                <a:schemeClr val="lt1"/>
              </a:solidFill>
            </a:endParaRPr>
          </a:p>
          <a:p>
            <a:pPr indent="0" lvl="0" marL="914400" rtl="0" algn="l">
              <a:spcBef>
                <a:spcPts val="0"/>
              </a:spcBef>
              <a:spcAft>
                <a:spcPts val="0"/>
              </a:spcAft>
              <a:buNone/>
            </a:pPr>
            <a:r>
              <a:t/>
            </a:r>
            <a:endParaRPr>
              <a:solidFill>
                <a:schemeClr val="lt1"/>
              </a:solidFill>
            </a:endParaRPr>
          </a:p>
          <a:p>
            <a:pPr indent="-317500" lvl="0" marL="457200" rtl="0" algn="l">
              <a:spcBef>
                <a:spcPts val="0"/>
              </a:spcBef>
              <a:spcAft>
                <a:spcPts val="0"/>
              </a:spcAft>
              <a:buClr>
                <a:schemeClr val="lt1"/>
              </a:buClr>
              <a:buSzPts val="1400"/>
              <a:buChar char="●"/>
            </a:pPr>
            <a:r>
              <a:rPr lang="en">
                <a:solidFill>
                  <a:schemeClr val="lt1"/>
                </a:solidFill>
              </a:rPr>
              <a:t>Code from https://github.com/JustasB/OlfactoryBulb/’</a:t>
            </a:r>
            <a:endParaRPr>
              <a:solidFill>
                <a:schemeClr val="lt1"/>
              </a:solidFill>
            </a:endParaRPr>
          </a:p>
        </p:txBody>
      </p:sp>
      <p:pic>
        <p:nvPicPr>
          <p:cNvPr id="257" name="Google Shape;257;p37" title="fig0_Network_3D_MC5_GC5.png"/>
          <p:cNvPicPr preferRelativeResize="0"/>
          <p:nvPr/>
        </p:nvPicPr>
        <p:blipFill rotWithShape="1">
          <a:blip r:embed="rId3">
            <a:alphaModFix/>
          </a:blip>
          <a:srcRect b="0" l="0" r="0" t="5411"/>
          <a:stretch/>
        </p:blipFill>
        <p:spPr>
          <a:xfrm>
            <a:off x="4875250" y="2892525"/>
            <a:ext cx="2074499" cy="2041050"/>
          </a:xfrm>
          <a:prstGeom prst="rect">
            <a:avLst/>
          </a:prstGeom>
          <a:noFill/>
          <a:ln>
            <a:noFill/>
          </a:ln>
        </p:spPr>
      </p:pic>
      <p:pic>
        <p:nvPicPr>
          <p:cNvPr id="258" name="Google Shape;258;p37" title="fig0_Network_3D_MC2_GC2.png"/>
          <p:cNvPicPr preferRelativeResize="0"/>
          <p:nvPr/>
        </p:nvPicPr>
        <p:blipFill rotWithShape="1">
          <a:blip r:embed="rId4">
            <a:alphaModFix/>
          </a:blip>
          <a:srcRect b="0" l="0" r="0" t="5411"/>
          <a:stretch/>
        </p:blipFill>
        <p:spPr>
          <a:xfrm>
            <a:off x="6045325" y="851475"/>
            <a:ext cx="2076251" cy="2041050"/>
          </a:xfrm>
          <a:prstGeom prst="rect">
            <a:avLst/>
          </a:prstGeom>
          <a:noFill/>
          <a:ln>
            <a:noFill/>
          </a:ln>
        </p:spPr>
      </p:pic>
      <p:pic>
        <p:nvPicPr>
          <p:cNvPr id="259" name="Google Shape;259;p37" title="fig0_Network_3D_MC1_GC1.png"/>
          <p:cNvPicPr preferRelativeResize="0"/>
          <p:nvPr/>
        </p:nvPicPr>
        <p:blipFill rotWithShape="1">
          <a:blip r:embed="rId5">
            <a:alphaModFix/>
          </a:blip>
          <a:srcRect b="0" l="0" r="0" t="5411"/>
          <a:stretch/>
        </p:blipFill>
        <p:spPr>
          <a:xfrm>
            <a:off x="7095800" y="2892525"/>
            <a:ext cx="2090276" cy="2041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3" name="Shape 263"/>
        <p:cNvGrpSpPr/>
        <p:nvPr/>
      </p:nvGrpSpPr>
      <p:grpSpPr>
        <a:xfrm>
          <a:off x="0" y="0"/>
          <a:ext cx="0" cy="0"/>
          <a:chOff x="0" y="0"/>
          <a:chExt cx="0" cy="0"/>
        </a:xfrm>
      </p:grpSpPr>
      <p:sp>
        <p:nvSpPr>
          <p:cNvPr id="264" name="Google Shape;264;p38"/>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solidFill>
                  <a:schemeClr val="lt1"/>
                </a:solidFill>
              </a:rPr>
              <a:t>f-I curve</a:t>
            </a:r>
            <a:endParaRPr>
              <a:solidFill>
                <a:schemeClr val="lt1"/>
              </a:solidFill>
            </a:endParaRPr>
          </a:p>
        </p:txBody>
      </p:sp>
      <p:pic>
        <p:nvPicPr>
          <p:cNvPr id="265" name="Google Shape;265;p38"/>
          <p:cNvPicPr preferRelativeResize="0"/>
          <p:nvPr/>
        </p:nvPicPr>
        <p:blipFill rotWithShape="1">
          <a:blip r:embed="rId3">
            <a:alphaModFix/>
          </a:blip>
          <a:srcRect b="0" l="50741" r="0" t="5856"/>
          <a:stretch/>
        </p:blipFill>
        <p:spPr>
          <a:xfrm>
            <a:off x="4298925" y="1176500"/>
            <a:ext cx="4007673" cy="3191625"/>
          </a:xfrm>
          <a:prstGeom prst="rect">
            <a:avLst/>
          </a:prstGeom>
          <a:noFill/>
          <a:ln>
            <a:noFill/>
          </a:ln>
        </p:spPr>
      </p:pic>
      <p:grpSp>
        <p:nvGrpSpPr>
          <p:cNvPr id="266" name="Google Shape;266;p38"/>
          <p:cNvGrpSpPr/>
          <p:nvPr/>
        </p:nvGrpSpPr>
        <p:grpSpPr>
          <a:xfrm>
            <a:off x="846613" y="2933333"/>
            <a:ext cx="2316946" cy="1434789"/>
            <a:chOff x="5832675" y="2545225"/>
            <a:chExt cx="2725819" cy="1687987"/>
          </a:xfrm>
        </p:grpSpPr>
        <p:grpSp>
          <p:nvGrpSpPr>
            <p:cNvPr id="267" name="Google Shape;267;p38"/>
            <p:cNvGrpSpPr/>
            <p:nvPr/>
          </p:nvGrpSpPr>
          <p:grpSpPr>
            <a:xfrm>
              <a:off x="5832675" y="2834452"/>
              <a:ext cx="2725819" cy="1398760"/>
              <a:chOff x="5832850" y="2921377"/>
              <a:chExt cx="2597750" cy="1252023"/>
            </a:xfrm>
          </p:grpSpPr>
          <p:sp>
            <p:nvSpPr>
              <p:cNvPr id="268" name="Google Shape;268;p38"/>
              <p:cNvSpPr/>
              <p:nvPr/>
            </p:nvSpPr>
            <p:spPr>
              <a:xfrm>
                <a:off x="5832850" y="3420150"/>
                <a:ext cx="450600" cy="450600"/>
              </a:xfrm>
              <a:prstGeom prst="ellipse">
                <a:avLst/>
              </a:prstGeom>
              <a:solidFill>
                <a:srgbClr val="D9D2E9"/>
              </a:solidFill>
              <a:ln cap="flat" cmpd="sng" w="8475">
                <a:solidFill>
                  <a:schemeClr val="dk2"/>
                </a:solidFill>
                <a:prstDash val="solid"/>
                <a:round/>
                <a:headEnd len="sm" w="sm" type="none"/>
                <a:tailEnd len="sm" w="sm" type="none"/>
              </a:ln>
            </p:spPr>
            <p:txBody>
              <a:bodyPr anchorCtr="0" anchor="ctr" bIns="81525" lIns="81525" spcFirstLastPara="1" rIns="81525" wrap="square" tIns="81525">
                <a:noAutofit/>
              </a:bodyPr>
              <a:lstStyle/>
              <a:p>
                <a:pPr indent="0" lvl="0" marL="0" rtl="0" algn="ctr">
                  <a:spcBef>
                    <a:spcPts val="0"/>
                  </a:spcBef>
                  <a:spcAft>
                    <a:spcPts val="0"/>
                  </a:spcAft>
                  <a:buNone/>
                </a:pPr>
                <a:r>
                  <a:rPr b="1" lang="en" sz="1249"/>
                  <a:t>B</a:t>
                </a:r>
                <a:endParaRPr b="1" sz="1249"/>
              </a:p>
            </p:txBody>
          </p:sp>
          <p:sp>
            <p:nvSpPr>
              <p:cNvPr id="269" name="Google Shape;269;p38"/>
              <p:cNvSpPr/>
              <p:nvPr/>
            </p:nvSpPr>
            <p:spPr>
              <a:xfrm>
                <a:off x="6922025" y="3722800"/>
                <a:ext cx="450600" cy="450600"/>
              </a:xfrm>
              <a:prstGeom prst="ellipse">
                <a:avLst/>
              </a:prstGeom>
              <a:solidFill>
                <a:srgbClr val="00E5FF"/>
              </a:solidFill>
              <a:ln cap="flat" cmpd="sng" w="8475">
                <a:solidFill>
                  <a:schemeClr val="dk2"/>
                </a:solidFill>
                <a:prstDash val="solid"/>
                <a:round/>
                <a:headEnd len="sm" w="sm" type="none"/>
                <a:tailEnd len="sm" w="sm" type="none"/>
              </a:ln>
            </p:spPr>
            <p:txBody>
              <a:bodyPr anchorCtr="0" anchor="ctr" bIns="81525" lIns="81525" spcFirstLastPara="1" rIns="81525" wrap="square" tIns="81525">
                <a:noAutofit/>
              </a:bodyPr>
              <a:lstStyle/>
              <a:p>
                <a:pPr indent="0" lvl="0" marL="0" rtl="0" algn="ctr">
                  <a:spcBef>
                    <a:spcPts val="0"/>
                  </a:spcBef>
                  <a:spcAft>
                    <a:spcPts val="0"/>
                  </a:spcAft>
                  <a:buNone/>
                </a:pPr>
                <a:r>
                  <a:rPr b="1" lang="en" sz="1249"/>
                  <a:t>A</a:t>
                </a:r>
                <a:endParaRPr b="1" sz="1249"/>
              </a:p>
            </p:txBody>
          </p:sp>
          <p:sp>
            <p:nvSpPr>
              <p:cNvPr id="270" name="Google Shape;270;p38"/>
              <p:cNvSpPr/>
              <p:nvPr/>
            </p:nvSpPr>
            <p:spPr>
              <a:xfrm>
                <a:off x="7980000" y="3722800"/>
                <a:ext cx="450600" cy="450600"/>
              </a:xfrm>
              <a:prstGeom prst="ellipse">
                <a:avLst/>
              </a:prstGeom>
              <a:solidFill>
                <a:srgbClr val="D9D2E9"/>
              </a:solidFill>
              <a:ln cap="flat" cmpd="sng" w="8475">
                <a:solidFill>
                  <a:schemeClr val="dk2"/>
                </a:solidFill>
                <a:prstDash val="solid"/>
                <a:round/>
                <a:headEnd len="sm" w="sm" type="none"/>
                <a:tailEnd len="sm" w="sm" type="none"/>
              </a:ln>
            </p:spPr>
            <p:txBody>
              <a:bodyPr anchorCtr="0" anchor="ctr" bIns="81525" lIns="81525" spcFirstLastPara="1" rIns="81525" wrap="square" tIns="81525">
                <a:noAutofit/>
              </a:bodyPr>
              <a:lstStyle/>
              <a:p>
                <a:pPr indent="0" lvl="0" marL="0" rtl="0" algn="ctr">
                  <a:spcBef>
                    <a:spcPts val="0"/>
                  </a:spcBef>
                  <a:spcAft>
                    <a:spcPts val="0"/>
                  </a:spcAft>
                  <a:buNone/>
                </a:pPr>
                <a:r>
                  <a:rPr b="1" lang="en" sz="1249"/>
                  <a:t>C</a:t>
                </a:r>
                <a:endParaRPr b="1" sz="1249"/>
              </a:p>
            </p:txBody>
          </p:sp>
          <p:cxnSp>
            <p:nvCxnSpPr>
              <p:cNvPr id="271" name="Google Shape;271;p38"/>
              <p:cNvCxnSpPr>
                <a:stCxn id="268" idx="7"/>
              </p:cNvCxnSpPr>
              <p:nvPr/>
            </p:nvCxnSpPr>
            <p:spPr>
              <a:xfrm flipH="1" rot="10800000">
                <a:off x="6217461" y="3340639"/>
                <a:ext cx="605100" cy="145500"/>
              </a:xfrm>
              <a:prstGeom prst="straightConnector1">
                <a:avLst/>
              </a:prstGeom>
              <a:noFill/>
              <a:ln cap="flat" cmpd="sng" w="17000">
                <a:solidFill>
                  <a:srgbClr val="FF0000"/>
                </a:solidFill>
                <a:prstDash val="solid"/>
                <a:round/>
                <a:headEnd len="med" w="med" type="none"/>
                <a:tailEnd len="med" w="med" type="triangle"/>
              </a:ln>
            </p:spPr>
          </p:cxnSp>
          <p:cxnSp>
            <p:nvCxnSpPr>
              <p:cNvPr id="272" name="Google Shape;272;p38"/>
              <p:cNvCxnSpPr>
                <a:endCxn id="270" idx="1"/>
              </p:cNvCxnSpPr>
              <p:nvPr/>
            </p:nvCxnSpPr>
            <p:spPr>
              <a:xfrm>
                <a:off x="7306489" y="3374189"/>
                <a:ext cx="739500" cy="414600"/>
              </a:xfrm>
              <a:prstGeom prst="straightConnector1">
                <a:avLst/>
              </a:prstGeom>
              <a:noFill/>
              <a:ln cap="flat" cmpd="sng" w="17000">
                <a:solidFill>
                  <a:schemeClr val="accent6"/>
                </a:solidFill>
                <a:prstDash val="solid"/>
                <a:round/>
                <a:headEnd len="med" w="med" type="none"/>
                <a:tailEnd len="med" w="med" type="triangle"/>
              </a:ln>
            </p:spPr>
          </p:cxnSp>
          <p:cxnSp>
            <p:nvCxnSpPr>
              <p:cNvPr id="273" name="Google Shape;273;p38"/>
              <p:cNvCxnSpPr>
                <a:endCxn id="268" idx="6"/>
              </p:cNvCxnSpPr>
              <p:nvPr/>
            </p:nvCxnSpPr>
            <p:spPr>
              <a:xfrm flipH="1">
                <a:off x="6283450" y="3499650"/>
                <a:ext cx="521700" cy="145800"/>
              </a:xfrm>
              <a:prstGeom prst="straightConnector1">
                <a:avLst/>
              </a:prstGeom>
              <a:noFill/>
              <a:ln cap="flat" cmpd="sng" w="17000">
                <a:solidFill>
                  <a:schemeClr val="accent6"/>
                </a:solidFill>
                <a:prstDash val="solid"/>
                <a:round/>
                <a:headEnd len="med" w="med" type="none"/>
                <a:tailEnd len="med" w="med" type="triangle"/>
              </a:ln>
            </p:spPr>
          </p:cxnSp>
          <p:cxnSp>
            <p:nvCxnSpPr>
              <p:cNvPr id="274" name="Google Shape;274;p38"/>
              <p:cNvCxnSpPr>
                <a:stCxn id="270" idx="2"/>
              </p:cNvCxnSpPr>
              <p:nvPr/>
            </p:nvCxnSpPr>
            <p:spPr>
              <a:xfrm rot="10800000">
                <a:off x="7256400" y="3556300"/>
                <a:ext cx="723600" cy="391800"/>
              </a:xfrm>
              <a:prstGeom prst="straightConnector1">
                <a:avLst/>
              </a:prstGeom>
              <a:noFill/>
              <a:ln cap="flat" cmpd="sng" w="17000">
                <a:solidFill>
                  <a:srgbClr val="FF0000"/>
                </a:solidFill>
                <a:prstDash val="solid"/>
                <a:round/>
                <a:headEnd len="med" w="med" type="none"/>
                <a:tailEnd len="med" w="med" type="triangle"/>
              </a:ln>
            </p:spPr>
          </p:cxnSp>
          <p:sp>
            <p:nvSpPr>
              <p:cNvPr id="275" name="Google Shape;275;p38"/>
              <p:cNvSpPr/>
              <p:nvPr/>
            </p:nvSpPr>
            <p:spPr>
              <a:xfrm>
                <a:off x="6787300" y="2951775"/>
                <a:ext cx="318150" cy="768875"/>
              </a:xfrm>
              <a:custGeom>
                <a:rect b="b" l="l" r="r" t="t"/>
                <a:pathLst>
                  <a:path extrusionOk="0" h="30755" w="12726">
                    <a:moveTo>
                      <a:pt x="0" y="0"/>
                    </a:moveTo>
                    <a:cubicBezTo>
                      <a:pt x="3535" y="0"/>
                      <a:pt x="6943" y="4997"/>
                      <a:pt x="6363" y="8484"/>
                    </a:cubicBezTo>
                    <a:cubicBezTo>
                      <a:pt x="5662" y="12698"/>
                      <a:pt x="529" y="15912"/>
                      <a:pt x="1060" y="20150"/>
                    </a:cubicBezTo>
                    <a:cubicBezTo>
                      <a:pt x="1713" y="25365"/>
                      <a:pt x="12726" y="25500"/>
                      <a:pt x="12726" y="30755"/>
                    </a:cubicBezTo>
                  </a:path>
                </a:pathLst>
              </a:custGeom>
              <a:noFill/>
              <a:ln cap="flat" cmpd="sng" w="8475">
                <a:solidFill>
                  <a:srgbClr val="00E5FF"/>
                </a:solidFill>
                <a:prstDash val="solid"/>
                <a:round/>
                <a:headEnd len="med" w="med" type="none"/>
                <a:tailEnd len="med" w="med" type="none"/>
              </a:ln>
            </p:spPr>
          </p:sp>
          <p:sp>
            <p:nvSpPr>
              <p:cNvPr id="276" name="Google Shape;276;p38"/>
              <p:cNvSpPr/>
              <p:nvPr/>
            </p:nvSpPr>
            <p:spPr>
              <a:xfrm rot="-9712819">
                <a:off x="7053211" y="2951785"/>
                <a:ext cx="318147" cy="768868"/>
              </a:xfrm>
              <a:custGeom>
                <a:rect b="b" l="l" r="r" t="t"/>
                <a:pathLst>
                  <a:path extrusionOk="0" h="30755" w="12726">
                    <a:moveTo>
                      <a:pt x="0" y="0"/>
                    </a:moveTo>
                    <a:cubicBezTo>
                      <a:pt x="3535" y="0"/>
                      <a:pt x="6943" y="4997"/>
                      <a:pt x="6363" y="8484"/>
                    </a:cubicBezTo>
                    <a:cubicBezTo>
                      <a:pt x="5662" y="12698"/>
                      <a:pt x="529" y="15912"/>
                      <a:pt x="1060" y="20150"/>
                    </a:cubicBezTo>
                    <a:cubicBezTo>
                      <a:pt x="1713" y="25365"/>
                      <a:pt x="12726" y="25500"/>
                      <a:pt x="12726" y="30755"/>
                    </a:cubicBezTo>
                  </a:path>
                </a:pathLst>
              </a:custGeom>
              <a:noFill/>
              <a:ln cap="flat" cmpd="sng" w="8475">
                <a:solidFill>
                  <a:srgbClr val="00E5FF"/>
                </a:solidFill>
                <a:prstDash val="solid"/>
                <a:round/>
                <a:headEnd len="med" w="med" type="none"/>
                <a:tailEnd len="med" w="med" type="none"/>
              </a:ln>
            </p:spPr>
          </p:sp>
        </p:grpSp>
        <p:sp>
          <p:nvSpPr>
            <p:cNvPr id="277" name="Google Shape;277;p38"/>
            <p:cNvSpPr/>
            <p:nvPr/>
          </p:nvSpPr>
          <p:spPr>
            <a:xfrm>
              <a:off x="6875675" y="2545225"/>
              <a:ext cx="304225" cy="1325650"/>
            </a:xfrm>
            <a:custGeom>
              <a:rect b="b" l="l" r="r" t="t"/>
              <a:pathLst>
                <a:path extrusionOk="0" h="53026" w="12169">
                  <a:moveTo>
                    <a:pt x="0" y="0"/>
                  </a:moveTo>
                  <a:cubicBezTo>
                    <a:pt x="6724" y="1681"/>
                    <a:pt x="11040" y="10107"/>
                    <a:pt x="12019" y="16969"/>
                  </a:cubicBezTo>
                  <a:cubicBezTo>
                    <a:pt x="12620" y="21184"/>
                    <a:pt x="9672" y="25165"/>
                    <a:pt x="8838" y="29341"/>
                  </a:cubicBezTo>
                  <a:cubicBezTo>
                    <a:pt x="8312" y="31976"/>
                    <a:pt x="10959" y="34432"/>
                    <a:pt x="10959" y="37119"/>
                  </a:cubicBezTo>
                  <a:cubicBezTo>
                    <a:pt x="10959" y="39706"/>
                    <a:pt x="8031" y="41433"/>
                    <a:pt x="7070" y="43835"/>
                  </a:cubicBezTo>
                  <a:cubicBezTo>
                    <a:pt x="5903" y="46754"/>
                    <a:pt x="6208" y="52033"/>
                    <a:pt x="9191" y="53026"/>
                  </a:cubicBezTo>
                </a:path>
              </a:pathLst>
            </a:custGeom>
            <a:noFill/>
            <a:ln cap="flat" cmpd="sng" w="8100">
              <a:solidFill>
                <a:srgbClr val="00E5FF"/>
              </a:solidFill>
              <a:prstDash val="solid"/>
              <a:round/>
              <a:headEnd len="med" w="med" type="none"/>
              <a:tailEnd len="med" w="med" type="none"/>
            </a:ln>
          </p:spPr>
        </p:sp>
        <p:sp>
          <p:nvSpPr>
            <p:cNvPr id="278" name="Google Shape;278;p38"/>
            <p:cNvSpPr/>
            <p:nvPr/>
          </p:nvSpPr>
          <p:spPr>
            <a:xfrm>
              <a:off x="6707750" y="2661238"/>
              <a:ext cx="547950" cy="714725"/>
            </a:xfrm>
            <a:custGeom>
              <a:rect b="b" l="l" r="r" t="t"/>
              <a:pathLst>
                <a:path extrusionOk="0" h="28589" w="21918">
                  <a:moveTo>
                    <a:pt x="17676" y="28589"/>
                  </a:moveTo>
                  <a:cubicBezTo>
                    <a:pt x="16995" y="23829"/>
                    <a:pt x="21918" y="19610"/>
                    <a:pt x="21918" y="14802"/>
                  </a:cubicBezTo>
                  <a:cubicBezTo>
                    <a:pt x="21918" y="11453"/>
                    <a:pt x="16509" y="10807"/>
                    <a:pt x="14141" y="8439"/>
                  </a:cubicBezTo>
                  <a:cubicBezTo>
                    <a:pt x="10296" y="4594"/>
                    <a:pt x="5158" y="-1412"/>
                    <a:pt x="0" y="309"/>
                  </a:cubicBezTo>
                </a:path>
              </a:pathLst>
            </a:custGeom>
            <a:noFill/>
            <a:ln cap="flat" cmpd="sng" w="8100">
              <a:solidFill>
                <a:srgbClr val="00E5FF"/>
              </a:solidFill>
              <a:prstDash val="solid"/>
              <a:round/>
              <a:headEnd len="med" w="med" type="none"/>
              <a:tailEnd len="med" w="med" type="none"/>
            </a:ln>
          </p:spPr>
        </p:sp>
      </p:grpSp>
      <p:sp>
        <p:nvSpPr>
          <p:cNvPr id="279" name="Google Shape;279;p38"/>
          <p:cNvSpPr txBox="1"/>
          <p:nvPr/>
        </p:nvSpPr>
        <p:spPr>
          <a:xfrm>
            <a:off x="722750" y="1501325"/>
            <a:ext cx="2440800" cy="122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1"/>
                </a:solidFill>
              </a:rPr>
              <a:t>Injected current at the glomerulus and recorded voltage at the soma of all three cells</a:t>
            </a:r>
            <a:endParaRPr sz="15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3" name="Shape 283"/>
        <p:cNvGrpSpPr/>
        <p:nvPr/>
      </p:nvGrpSpPr>
      <p:grpSpPr>
        <a:xfrm>
          <a:off x="0" y="0"/>
          <a:ext cx="0" cy="0"/>
          <a:chOff x="0" y="0"/>
          <a:chExt cx="0" cy="0"/>
        </a:xfrm>
      </p:grpSpPr>
      <p:sp>
        <p:nvSpPr>
          <p:cNvPr id="284" name="Google Shape;284;p39"/>
          <p:cNvSpPr txBox="1"/>
          <p:nvPr>
            <p:ph type="title"/>
          </p:nvPr>
        </p:nvSpPr>
        <p:spPr>
          <a:xfrm>
            <a:off x="517900" y="139369"/>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solidFill>
                  <a:schemeClr val="lt1"/>
                </a:solidFill>
              </a:rPr>
              <a:t>Localisation of MC-GC synapses</a:t>
            </a:r>
            <a:endParaRPr>
              <a:solidFill>
                <a:schemeClr val="lt1"/>
              </a:solidFill>
            </a:endParaRPr>
          </a:p>
        </p:txBody>
      </p:sp>
      <p:pic>
        <p:nvPicPr>
          <p:cNvPr id="285" name="Google Shape;285;p39"/>
          <p:cNvPicPr preferRelativeResize="0"/>
          <p:nvPr/>
        </p:nvPicPr>
        <p:blipFill rotWithShape="1">
          <a:blip r:embed="rId3">
            <a:alphaModFix/>
          </a:blip>
          <a:srcRect b="66927" l="0" r="0" t="0"/>
          <a:stretch/>
        </p:blipFill>
        <p:spPr>
          <a:xfrm>
            <a:off x="3467225" y="974475"/>
            <a:ext cx="4482349" cy="1185975"/>
          </a:xfrm>
          <a:prstGeom prst="rect">
            <a:avLst/>
          </a:prstGeom>
          <a:noFill/>
          <a:ln>
            <a:noFill/>
          </a:ln>
        </p:spPr>
      </p:pic>
      <p:pic>
        <p:nvPicPr>
          <p:cNvPr id="286" name="Google Shape;286;p39"/>
          <p:cNvPicPr preferRelativeResize="0"/>
          <p:nvPr/>
        </p:nvPicPr>
        <p:blipFill rotWithShape="1">
          <a:blip r:embed="rId3">
            <a:alphaModFix/>
          </a:blip>
          <a:srcRect b="36881" l="0" r="0" t="31895"/>
          <a:stretch/>
        </p:blipFill>
        <p:spPr>
          <a:xfrm>
            <a:off x="3467225" y="2278174"/>
            <a:ext cx="4482349" cy="1119627"/>
          </a:xfrm>
          <a:prstGeom prst="rect">
            <a:avLst/>
          </a:prstGeom>
          <a:noFill/>
          <a:ln>
            <a:noFill/>
          </a:ln>
        </p:spPr>
      </p:pic>
      <p:pic>
        <p:nvPicPr>
          <p:cNvPr id="287" name="Google Shape;287;p39"/>
          <p:cNvPicPr preferRelativeResize="0"/>
          <p:nvPr/>
        </p:nvPicPr>
        <p:blipFill rotWithShape="1">
          <a:blip r:embed="rId3">
            <a:alphaModFix/>
          </a:blip>
          <a:srcRect b="0" l="0" r="0" t="63462"/>
          <a:stretch/>
        </p:blipFill>
        <p:spPr>
          <a:xfrm>
            <a:off x="3450263" y="3515525"/>
            <a:ext cx="4516283" cy="1320126"/>
          </a:xfrm>
          <a:prstGeom prst="rect">
            <a:avLst/>
          </a:prstGeom>
          <a:noFill/>
          <a:ln>
            <a:noFill/>
          </a:ln>
        </p:spPr>
      </p:pic>
      <p:pic>
        <p:nvPicPr>
          <p:cNvPr id="288" name="Google Shape;288;p39"/>
          <p:cNvPicPr preferRelativeResize="0"/>
          <p:nvPr/>
        </p:nvPicPr>
        <p:blipFill rotWithShape="1">
          <a:blip r:embed="rId4">
            <a:alphaModFix/>
          </a:blip>
          <a:srcRect b="19931" l="25306" r="23195" t="22515"/>
          <a:stretch/>
        </p:blipFill>
        <p:spPr>
          <a:xfrm>
            <a:off x="1398400" y="974475"/>
            <a:ext cx="1031691" cy="1185976"/>
          </a:xfrm>
          <a:prstGeom prst="rect">
            <a:avLst/>
          </a:prstGeom>
          <a:noFill/>
          <a:ln>
            <a:noFill/>
          </a:ln>
        </p:spPr>
      </p:pic>
      <p:pic>
        <p:nvPicPr>
          <p:cNvPr id="289" name="Google Shape;289;p39"/>
          <p:cNvPicPr preferRelativeResize="0"/>
          <p:nvPr/>
        </p:nvPicPr>
        <p:blipFill rotWithShape="1">
          <a:blip r:embed="rId5">
            <a:alphaModFix/>
          </a:blip>
          <a:srcRect b="20812" l="25858" r="22694" t="23496"/>
          <a:stretch/>
        </p:blipFill>
        <p:spPr>
          <a:xfrm>
            <a:off x="1381725" y="2245000"/>
            <a:ext cx="1031700" cy="1148838"/>
          </a:xfrm>
          <a:prstGeom prst="rect">
            <a:avLst/>
          </a:prstGeom>
          <a:noFill/>
          <a:ln>
            <a:noFill/>
          </a:ln>
        </p:spPr>
      </p:pic>
      <p:pic>
        <p:nvPicPr>
          <p:cNvPr id="290" name="Google Shape;290;p39"/>
          <p:cNvPicPr preferRelativeResize="0"/>
          <p:nvPr/>
        </p:nvPicPr>
        <p:blipFill rotWithShape="1">
          <a:blip r:embed="rId6">
            <a:alphaModFix/>
          </a:blip>
          <a:srcRect b="20465" l="26677" r="25145" t="23819"/>
          <a:stretch/>
        </p:blipFill>
        <p:spPr>
          <a:xfrm>
            <a:off x="1398400" y="3478388"/>
            <a:ext cx="1031700" cy="12273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4" name="Shape 294"/>
        <p:cNvGrpSpPr/>
        <p:nvPr/>
      </p:nvGrpSpPr>
      <p:grpSpPr>
        <a:xfrm>
          <a:off x="0" y="0"/>
          <a:ext cx="0" cy="0"/>
          <a:chOff x="0" y="0"/>
          <a:chExt cx="0" cy="0"/>
        </a:xfrm>
      </p:grpSpPr>
      <p:sp>
        <p:nvSpPr>
          <p:cNvPr id="295" name="Google Shape;295;p40"/>
          <p:cNvSpPr txBox="1"/>
          <p:nvPr>
            <p:ph type="title"/>
          </p:nvPr>
        </p:nvSpPr>
        <p:spPr>
          <a:xfrm>
            <a:off x="420175" y="360700"/>
            <a:ext cx="7867800" cy="474900"/>
          </a:xfrm>
          <a:prstGeom prst="rect">
            <a:avLst/>
          </a:prstGeom>
        </p:spPr>
        <p:txBody>
          <a:bodyPr anchorCtr="0" anchor="ctr" bIns="34275" lIns="68575" spcFirstLastPara="1" rIns="68575" wrap="square" tIns="34275">
            <a:normAutofit fontScale="90000"/>
          </a:bodyPr>
          <a:lstStyle/>
          <a:p>
            <a:pPr indent="0" lvl="0" marL="0" rtl="0" algn="l">
              <a:spcBef>
                <a:spcPts val="0"/>
              </a:spcBef>
              <a:spcAft>
                <a:spcPts val="0"/>
              </a:spcAft>
              <a:buNone/>
            </a:pPr>
            <a:r>
              <a:rPr lang="en" sz="4022">
                <a:solidFill>
                  <a:schemeClr val="lt1"/>
                </a:solidFill>
              </a:rPr>
              <a:t>Conclusion :</a:t>
            </a:r>
            <a:endParaRPr sz="4022">
              <a:solidFill>
                <a:schemeClr val="lt1"/>
              </a:solidFill>
            </a:endParaRPr>
          </a:p>
          <a:p>
            <a:pPr indent="0" lvl="0" marL="0" rtl="0" algn="l">
              <a:spcBef>
                <a:spcPts val="0"/>
              </a:spcBef>
              <a:spcAft>
                <a:spcPts val="0"/>
              </a:spcAft>
              <a:buNone/>
            </a:pPr>
            <a:r>
              <a:t/>
            </a:r>
            <a:endParaRPr sz="2800">
              <a:solidFill>
                <a:schemeClr val="lt1"/>
              </a:solidFill>
            </a:endParaRPr>
          </a:p>
        </p:txBody>
      </p:sp>
      <p:sp>
        <p:nvSpPr>
          <p:cNvPr id="296" name="Google Shape;296;p40"/>
          <p:cNvSpPr txBox="1"/>
          <p:nvPr/>
        </p:nvSpPr>
        <p:spPr>
          <a:xfrm>
            <a:off x="261300" y="943200"/>
            <a:ext cx="8621400" cy="3558900"/>
          </a:xfrm>
          <a:prstGeom prst="rect">
            <a:avLst/>
          </a:prstGeom>
          <a:noFill/>
          <a:ln>
            <a:noFill/>
          </a:ln>
        </p:spPr>
        <p:txBody>
          <a:bodyPr anchorCtr="0" anchor="t" bIns="91425" lIns="91425" spcFirstLastPara="1" rIns="91425" wrap="square" tIns="91425">
            <a:noAutofit/>
          </a:bodyPr>
          <a:lstStyle/>
          <a:p>
            <a:pPr indent="-355600" lvl="0" marL="457200" rtl="0" algn="l">
              <a:lnSpc>
                <a:spcPct val="90000"/>
              </a:lnSpc>
              <a:spcBef>
                <a:spcPts val="0"/>
              </a:spcBef>
              <a:spcAft>
                <a:spcPts val="0"/>
              </a:spcAft>
              <a:buClr>
                <a:schemeClr val="lt1"/>
              </a:buClr>
              <a:buSzPts val="2000"/>
              <a:buFont typeface="Play"/>
              <a:buChar char="●"/>
            </a:pPr>
            <a:r>
              <a:rPr b="1" lang="en" sz="2000">
                <a:solidFill>
                  <a:schemeClr val="lt1"/>
                </a:solidFill>
                <a:latin typeface="Play"/>
                <a:ea typeface="Play"/>
                <a:cs typeface="Play"/>
                <a:sym typeface="Play"/>
              </a:rPr>
              <a:t>Circuit design</a:t>
            </a:r>
            <a:r>
              <a:rPr lang="en" sz="2000">
                <a:solidFill>
                  <a:schemeClr val="lt1"/>
                </a:solidFill>
                <a:latin typeface="Play"/>
                <a:ea typeface="Play"/>
                <a:cs typeface="Play"/>
                <a:sym typeface="Play"/>
              </a:rPr>
              <a:t>: 1 mitral cells (large dendritic arbour) ↔ 2 granule cells , reciprocally connected — to study local feedback via dendrites</a:t>
            </a:r>
            <a:endParaRPr sz="2000">
              <a:solidFill>
                <a:schemeClr val="lt1"/>
              </a:solidFill>
              <a:latin typeface="Play"/>
              <a:ea typeface="Play"/>
              <a:cs typeface="Play"/>
              <a:sym typeface="Play"/>
            </a:endParaRPr>
          </a:p>
          <a:p>
            <a:pPr indent="-355600" lvl="0" marL="457200" rtl="0" algn="l">
              <a:lnSpc>
                <a:spcPct val="90000"/>
              </a:lnSpc>
              <a:spcBef>
                <a:spcPts val="0"/>
              </a:spcBef>
              <a:spcAft>
                <a:spcPts val="0"/>
              </a:spcAft>
              <a:buClr>
                <a:schemeClr val="lt1"/>
              </a:buClr>
              <a:buSzPts val="2000"/>
              <a:buFont typeface="Play"/>
              <a:buChar char="●"/>
            </a:pPr>
            <a:r>
              <a:rPr b="1" lang="en" sz="2000">
                <a:solidFill>
                  <a:schemeClr val="lt1"/>
                </a:solidFill>
                <a:latin typeface="Play"/>
                <a:ea typeface="Play"/>
                <a:cs typeface="Play"/>
                <a:sym typeface="Play"/>
              </a:rPr>
              <a:t>Passive &amp; </a:t>
            </a:r>
            <a:r>
              <a:rPr lang="en" sz="700">
                <a:solidFill>
                  <a:schemeClr val="lt1"/>
                </a:solidFill>
                <a:latin typeface="Play"/>
                <a:ea typeface="Play"/>
                <a:cs typeface="Play"/>
                <a:sym typeface="Play"/>
              </a:rPr>
              <a:t> </a:t>
            </a:r>
            <a:r>
              <a:rPr b="1" lang="en" sz="2000">
                <a:solidFill>
                  <a:schemeClr val="lt1"/>
                </a:solidFill>
                <a:latin typeface="Play"/>
                <a:ea typeface="Play"/>
                <a:cs typeface="Play"/>
                <a:sym typeface="Play"/>
              </a:rPr>
              <a:t>Active model</a:t>
            </a:r>
            <a:r>
              <a:rPr lang="en" sz="2000">
                <a:solidFill>
                  <a:schemeClr val="lt1"/>
                </a:solidFill>
                <a:latin typeface="Play"/>
                <a:ea typeface="Play"/>
                <a:cs typeface="Play"/>
                <a:sym typeface="Play"/>
              </a:rPr>
              <a:t>: 4 compartmental MC + single-compartment granule cells (HH) </a:t>
            </a:r>
            <a:endParaRPr sz="2000">
              <a:solidFill>
                <a:schemeClr val="lt1"/>
              </a:solidFill>
              <a:latin typeface="Play"/>
              <a:ea typeface="Play"/>
              <a:cs typeface="Play"/>
              <a:sym typeface="Play"/>
            </a:endParaRPr>
          </a:p>
          <a:p>
            <a:pPr indent="-355600" lvl="0" marL="457200" rtl="0" algn="l">
              <a:lnSpc>
                <a:spcPct val="90000"/>
              </a:lnSpc>
              <a:spcBef>
                <a:spcPts val="0"/>
              </a:spcBef>
              <a:spcAft>
                <a:spcPts val="0"/>
              </a:spcAft>
              <a:buClr>
                <a:schemeClr val="lt1"/>
              </a:buClr>
              <a:buSzPts val="2000"/>
              <a:buFont typeface="Play"/>
              <a:buChar char="●"/>
            </a:pPr>
            <a:r>
              <a:rPr lang="en" sz="2000">
                <a:solidFill>
                  <a:schemeClr val="lt1"/>
                </a:solidFill>
                <a:latin typeface="Play"/>
                <a:ea typeface="Play"/>
                <a:cs typeface="Play"/>
                <a:sym typeface="Play"/>
              </a:rPr>
              <a:t>Previous model lacks structural accuracy → moving to morphologically realistic mitral &amp; granule cell model.</a:t>
            </a:r>
            <a:endParaRPr sz="2000">
              <a:solidFill>
                <a:schemeClr val="lt1"/>
              </a:solidFill>
              <a:latin typeface="Play"/>
              <a:ea typeface="Play"/>
              <a:cs typeface="Play"/>
              <a:sym typeface="Play"/>
            </a:endParaRPr>
          </a:p>
          <a:p>
            <a:pPr indent="-355600" lvl="0" marL="457200" rtl="0" algn="l">
              <a:lnSpc>
                <a:spcPct val="90000"/>
              </a:lnSpc>
              <a:spcBef>
                <a:spcPts val="0"/>
              </a:spcBef>
              <a:spcAft>
                <a:spcPts val="0"/>
              </a:spcAft>
              <a:buClr>
                <a:schemeClr val="lt1"/>
              </a:buClr>
              <a:buSzPts val="2000"/>
              <a:buFont typeface="Play"/>
              <a:buChar char="●"/>
            </a:pPr>
            <a:r>
              <a:rPr lang="en" sz="2000">
                <a:solidFill>
                  <a:schemeClr val="lt1"/>
                </a:solidFill>
                <a:latin typeface="Play"/>
                <a:ea typeface="Play"/>
                <a:cs typeface="Play"/>
                <a:sym typeface="Play"/>
              </a:rPr>
              <a:t>We studied local feedback in olfactory mitral cells and granule cells. </a:t>
            </a:r>
            <a:endParaRPr sz="2000">
              <a:solidFill>
                <a:schemeClr val="lt1"/>
              </a:solidFill>
              <a:latin typeface="Play"/>
              <a:ea typeface="Play"/>
              <a:cs typeface="Play"/>
              <a:sym typeface="Play"/>
            </a:endParaRPr>
          </a:p>
          <a:p>
            <a:pPr indent="-355600" lvl="0" marL="457200" rtl="0" algn="l">
              <a:lnSpc>
                <a:spcPct val="90000"/>
              </a:lnSpc>
              <a:spcBef>
                <a:spcPts val="0"/>
              </a:spcBef>
              <a:spcAft>
                <a:spcPts val="0"/>
              </a:spcAft>
              <a:buClr>
                <a:schemeClr val="lt1"/>
              </a:buClr>
              <a:buSzPts val="2000"/>
              <a:buFont typeface="Play"/>
              <a:buChar char="●"/>
            </a:pPr>
            <a:r>
              <a:rPr lang="en" sz="2000">
                <a:solidFill>
                  <a:schemeClr val="lt1"/>
                </a:solidFill>
                <a:latin typeface="Play"/>
                <a:ea typeface="Play"/>
                <a:cs typeface="Play"/>
                <a:sym typeface="Play"/>
              </a:rPr>
              <a:t>Connections of GC on the same dendritic branch of MC, lead to a stronger inhibition than on different branches/distances of the same compartment of MC.</a:t>
            </a:r>
            <a:endParaRPr sz="2000">
              <a:solidFill>
                <a:schemeClr val="lt1"/>
              </a:solidFill>
              <a:latin typeface="Play"/>
              <a:ea typeface="Play"/>
              <a:cs typeface="Play"/>
              <a:sym typeface="Play"/>
            </a:endParaRPr>
          </a:p>
          <a:p>
            <a:pPr indent="-355600" lvl="0" marL="457200" rtl="0" algn="l">
              <a:lnSpc>
                <a:spcPct val="90000"/>
              </a:lnSpc>
              <a:spcBef>
                <a:spcPts val="0"/>
              </a:spcBef>
              <a:spcAft>
                <a:spcPts val="0"/>
              </a:spcAft>
              <a:buClr>
                <a:schemeClr val="lt1"/>
              </a:buClr>
              <a:buSzPts val="2000"/>
              <a:buFont typeface="Play"/>
              <a:buChar char="●"/>
            </a:pPr>
            <a:r>
              <a:rPr b="1" lang="en" sz="2000" u="sng">
                <a:solidFill>
                  <a:schemeClr val="lt1"/>
                </a:solidFill>
                <a:latin typeface="Play"/>
                <a:ea typeface="Play"/>
                <a:cs typeface="Play"/>
                <a:sym typeface="Play"/>
              </a:rPr>
              <a:t>The various compartments of the cell matters for its computations!</a:t>
            </a:r>
            <a:endParaRPr sz="19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00" name="Shape 300"/>
        <p:cNvGrpSpPr/>
        <p:nvPr/>
      </p:nvGrpSpPr>
      <p:grpSpPr>
        <a:xfrm>
          <a:off x="0" y="0"/>
          <a:ext cx="0" cy="0"/>
          <a:chOff x="0" y="0"/>
          <a:chExt cx="0" cy="0"/>
        </a:xfrm>
      </p:grpSpPr>
      <p:sp>
        <p:nvSpPr>
          <p:cNvPr id="301" name="Google Shape;301;p41"/>
          <p:cNvSpPr txBox="1"/>
          <p:nvPr>
            <p:ph type="title"/>
          </p:nvPr>
        </p:nvSpPr>
        <p:spPr>
          <a:xfrm>
            <a:off x="6216375" y="925400"/>
            <a:ext cx="2880900" cy="4473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73333"/>
              <a:buFont typeface="Play"/>
              <a:buNone/>
            </a:pPr>
            <a:r>
              <a:rPr b="1" lang="en" sz="4500">
                <a:solidFill>
                  <a:srgbClr val="FAFBFC"/>
                </a:solidFill>
              </a:rPr>
              <a:t>Thank you!</a:t>
            </a:r>
            <a:endParaRPr b="1" sz="4500">
              <a:solidFill>
                <a:srgbClr val="FAFBFC"/>
              </a:solidFill>
            </a:endParaRPr>
          </a:p>
        </p:txBody>
      </p:sp>
      <p:pic>
        <p:nvPicPr>
          <p:cNvPr id="302" name="Google Shape;302;p41"/>
          <p:cNvPicPr preferRelativeResize="0"/>
          <p:nvPr/>
        </p:nvPicPr>
        <p:blipFill>
          <a:blip r:embed="rId3">
            <a:alphaModFix/>
          </a:blip>
          <a:stretch>
            <a:fillRect/>
          </a:stretch>
        </p:blipFill>
        <p:spPr>
          <a:xfrm>
            <a:off x="203150" y="402325"/>
            <a:ext cx="5800223" cy="4338850"/>
          </a:xfrm>
          <a:prstGeom prst="rect">
            <a:avLst/>
          </a:prstGeom>
          <a:noFill/>
          <a:ln>
            <a:noFill/>
          </a:ln>
        </p:spPr>
      </p:pic>
      <p:sp>
        <p:nvSpPr>
          <p:cNvPr id="303" name="Google Shape;303;p41"/>
          <p:cNvSpPr txBox="1"/>
          <p:nvPr/>
        </p:nvSpPr>
        <p:spPr>
          <a:xfrm>
            <a:off x="203150" y="4741175"/>
            <a:ext cx="6346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900">
                <a:solidFill>
                  <a:srgbClr val="333333"/>
                </a:solidFill>
                <a:highlight>
                  <a:srgbClr val="FFFFFF"/>
                </a:highlight>
                <a:latin typeface="Times New Roman"/>
                <a:ea typeface="Times New Roman"/>
                <a:cs typeface="Times New Roman"/>
                <a:sym typeface="Times New Roman"/>
              </a:rPr>
              <a:t>Confocal microscopic image of fixed adult mouse olfactory bulb tissue. Image credit: Li Huang and Elisa Galliano.</a:t>
            </a:r>
            <a:endParaRPr i="1" sz="900">
              <a:solidFill>
                <a:srgbClr val="333333"/>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i="1" lang="en" sz="900">
                <a:solidFill>
                  <a:srgbClr val="333333"/>
                </a:solidFill>
                <a:highlight>
                  <a:srgbClr val="FFFFFF"/>
                </a:highlight>
                <a:latin typeface="Times New Roman"/>
                <a:ea typeface="Times New Roman"/>
                <a:cs typeface="Times New Roman"/>
                <a:sym typeface="Times New Roman"/>
              </a:rPr>
              <a:t>3D rendering of the converted network consisting of 30 Mitral cells </a:t>
            </a:r>
            <a:r>
              <a:rPr i="1" lang="en" sz="900">
                <a:solidFill>
                  <a:srgbClr val="333333"/>
                </a:solidFill>
                <a:highlight>
                  <a:srgbClr val="FFFFFF"/>
                </a:highlight>
                <a:latin typeface="Times New Roman"/>
                <a:ea typeface="Times New Roman"/>
                <a:cs typeface="Times New Roman"/>
                <a:sym typeface="Times New Roman"/>
              </a:rPr>
              <a:t>Image credit: Migliore et al. 2014. </a:t>
            </a:r>
            <a:endParaRPr i="1" sz="900">
              <a:solidFill>
                <a:srgbClr val="333333"/>
              </a:solidFill>
              <a:highlight>
                <a:srgbClr val="FFFFFF"/>
              </a:highlight>
              <a:latin typeface="Times New Roman"/>
              <a:ea typeface="Times New Roman"/>
              <a:cs typeface="Times New Roman"/>
              <a:sym typeface="Times New Roman"/>
            </a:endParaRPr>
          </a:p>
        </p:txBody>
      </p:sp>
      <p:sp>
        <p:nvSpPr>
          <p:cNvPr id="304" name="Google Shape;304;p41"/>
          <p:cNvSpPr txBox="1"/>
          <p:nvPr/>
        </p:nvSpPr>
        <p:spPr>
          <a:xfrm>
            <a:off x="6101700" y="4058325"/>
            <a:ext cx="29364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lt1"/>
                </a:solidFill>
              </a:rPr>
              <a:t>Special thanks to Darshan for being our tech expert!</a:t>
            </a:r>
            <a:endParaRPr sz="900">
              <a:solidFill>
                <a:schemeClr val="lt1"/>
              </a:solidFill>
            </a:endParaRPr>
          </a:p>
          <a:p>
            <a:pPr indent="0" lvl="0" marL="0" rtl="0" algn="l">
              <a:spcBef>
                <a:spcPts val="0"/>
              </a:spcBef>
              <a:spcAft>
                <a:spcPts val="0"/>
              </a:spcAft>
              <a:buNone/>
            </a:pPr>
            <a:r>
              <a:t/>
            </a:r>
            <a:endParaRPr sz="900">
              <a:solidFill>
                <a:schemeClr val="lt1"/>
              </a:solidFill>
            </a:endParaRPr>
          </a:p>
          <a:p>
            <a:pPr indent="0" lvl="0" marL="0" rtl="0" algn="l">
              <a:spcBef>
                <a:spcPts val="0"/>
              </a:spcBef>
              <a:spcAft>
                <a:spcPts val="0"/>
              </a:spcAft>
              <a:buNone/>
            </a:pPr>
            <a:r>
              <a:rPr lang="en" sz="900">
                <a:solidFill>
                  <a:schemeClr val="lt1"/>
                </a:solidFill>
              </a:rPr>
              <a:t>And to all the TAs for their help throughout CAMP!</a:t>
            </a:r>
            <a:endParaRPr sz="900">
              <a:solidFill>
                <a:schemeClr val="lt1"/>
              </a:solidFill>
            </a:endParaRPr>
          </a:p>
        </p:txBody>
      </p:sp>
      <p:pic>
        <p:nvPicPr>
          <p:cNvPr id="305" name="Google Shape;305;p41"/>
          <p:cNvPicPr preferRelativeResize="0"/>
          <p:nvPr/>
        </p:nvPicPr>
        <p:blipFill>
          <a:blip r:embed="rId4">
            <a:alphaModFix/>
          </a:blip>
          <a:stretch>
            <a:fillRect/>
          </a:stretch>
        </p:blipFill>
        <p:spPr>
          <a:xfrm>
            <a:off x="6052275" y="1707996"/>
            <a:ext cx="3035249" cy="211362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09" name="Shape 309"/>
        <p:cNvGrpSpPr/>
        <p:nvPr/>
      </p:nvGrpSpPr>
      <p:grpSpPr>
        <a:xfrm>
          <a:off x="0" y="0"/>
          <a:ext cx="0" cy="0"/>
          <a:chOff x="0" y="0"/>
          <a:chExt cx="0" cy="0"/>
        </a:xfrm>
      </p:grpSpPr>
      <p:sp>
        <p:nvSpPr>
          <p:cNvPr id="310" name="Google Shape;310;p42"/>
          <p:cNvSpPr txBox="1"/>
          <p:nvPr>
            <p:ph type="title"/>
          </p:nvPr>
        </p:nvSpPr>
        <p:spPr>
          <a:xfrm>
            <a:off x="628650" y="22389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solidFill>
                  <a:schemeClr val="lt1"/>
                </a:solidFill>
              </a:rPr>
              <a:t>Contributions</a:t>
            </a:r>
            <a:endParaRPr>
              <a:solidFill>
                <a:schemeClr val="lt1"/>
              </a:solidFill>
            </a:endParaRPr>
          </a:p>
        </p:txBody>
      </p:sp>
      <p:sp>
        <p:nvSpPr>
          <p:cNvPr id="311" name="Google Shape;311;p42"/>
          <p:cNvSpPr txBox="1"/>
          <p:nvPr>
            <p:ph idx="1" type="body"/>
          </p:nvPr>
        </p:nvSpPr>
        <p:spPr>
          <a:xfrm>
            <a:off x="628650" y="1369225"/>
            <a:ext cx="8445300" cy="3263400"/>
          </a:xfrm>
          <a:prstGeom prst="rect">
            <a:avLst/>
          </a:prstGeom>
        </p:spPr>
        <p:txBody>
          <a:bodyPr anchorCtr="0" anchor="t" bIns="34275" lIns="68575" spcFirstLastPara="1" rIns="68575" wrap="square" tIns="34275">
            <a:normAutofit fontScale="92500"/>
          </a:bodyPr>
          <a:lstStyle/>
          <a:p>
            <a:pPr indent="0" lvl="0" marL="0" rtl="0" algn="l">
              <a:lnSpc>
                <a:spcPct val="150000"/>
              </a:lnSpc>
              <a:spcBef>
                <a:spcPts val="0"/>
              </a:spcBef>
              <a:spcAft>
                <a:spcPts val="0"/>
              </a:spcAft>
              <a:buClr>
                <a:schemeClr val="dk1"/>
              </a:buClr>
              <a:buSzPct val="52381"/>
              <a:buFont typeface="Arial"/>
              <a:buNone/>
            </a:pPr>
            <a:r>
              <a:rPr lang="en">
                <a:solidFill>
                  <a:schemeClr val="lt1"/>
                </a:solidFill>
                <a:latin typeface="Lora Medium"/>
                <a:ea typeface="Lora Medium"/>
                <a:cs typeface="Lora Medium"/>
                <a:sym typeface="Lora Medium"/>
              </a:rPr>
              <a:t>Abhishek : Coding, Documentation and Presentation</a:t>
            </a:r>
            <a:endParaRPr>
              <a:solidFill>
                <a:schemeClr val="lt1"/>
              </a:solidFill>
              <a:latin typeface="Lora Medium"/>
              <a:ea typeface="Lora Medium"/>
              <a:cs typeface="Lora Medium"/>
              <a:sym typeface="Lora Medium"/>
            </a:endParaRPr>
          </a:p>
          <a:p>
            <a:pPr indent="0" lvl="0" marL="0" rtl="0" algn="l">
              <a:lnSpc>
                <a:spcPct val="150000"/>
              </a:lnSpc>
              <a:spcBef>
                <a:spcPts val="0"/>
              </a:spcBef>
              <a:spcAft>
                <a:spcPts val="0"/>
              </a:spcAft>
              <a:buClr>
                <a:schemeClr val="dk1"/>
              </a:buClr>
              <a:buSzPct val="52381"/>
              <a:buFont typeface="Arial"/>
              <a:buNone/>
            </a:pPr>
            <a:r>
              <a:rPr lang="en">
                <a:solidFill>
                  <a:schemeClr val="lt1"/>
                </a:solidFill>
                <a:latin typeface="Lora Medium"/>
                <a:ea typeface="Lora Medium"/>
                <a:cs typeface="Lora Medium"/>
                <a:sym typeface="Lora Medium"/>
              </a:rPr>
              <a:t>Debarpita : Presentation Preparation</a:t>
            </a:r>
            <a:endParaRPr>
              <a:solidFill>
                <a:schemeClr val="lt1"/>
              </a:solidFill>
              <a:latin typeface="Lora Medium"/>
              <a:ea typeface="Lora Medium"/>
              <a:cs typeface="Lora Medium"/>
              <a:sym typeface="Lora Medium"/>
            </a:endParaRPr>
          </a:p>
          <a:p>
            <a:pPr indent="0" lvl="0" marL="0" rtl="0" algn="l">
              <a:lnSpc>
                <a:spcPct val="150000"/>
              </a:lnSpc>
              <a:spcBef>
                <a:spcPts val="0"/>
              </a:spcBef>
              <a:spcAft>
                <a:spcPts val="0"/>
              </a:spcAft>
              <a:buClr>
                <a:schemeClr val="dk1"/>
              </a:buClr>
              <a:buSzPct val="52381"/>
              <a:buFont typeface="Arial"/>
              <a:buNone/>
            </a:pPr>
            <a:r>
              <a:rPr lang="en">
                <a:solidFill>
                  <a:schemeClr val="lt1"/>
                </a:solidFill>
                <a:latin typeface="Lora Medium"/>
                <a:ea typeface="Lora Medium"/>
                <a:cs typeface="Lora Medium"/>
                <a:sym typeface="Lora Medium"/>
              </a:rPr>
              <a:t>Rajkumar : Interpretation, Literature Review</a:t>
            </a:r>
            <a:endParaRPr>
              <a:solidFill>
                <a:schemeClr val="lt1"/>
              </a:solidFill>
              <a:latin typeface="Lora Medium"/>
              <a:ea typeface="Lora Medium"/>
              <a:cs typeface="Lora Medium"/>
              <a:sym typeface="Lora Medium"/>
            </a:endParaRPr>
          </a:p>
          <a:p>
            <a:pPr indent="0" lvl="0" marL="0" rtl="0" algn="l">
              <a:lnSpc>
                <a:spcPct val="150000"/>
              </a:lnSpc>
              <a:spcBef>
                <a:spcPts val="0"/>
              </a:spcBef>
              <a:spcAft>
                <a:spcPts val="0"/>
              </a:spcAft>
              <a:buClr>
                <a:schemeClr val="dk1"/>
              </a:buClr>
              <a:buSzPct val="52381"/>
              <a:buFont typeface="Arial"/>
              <a:buNone/>
            </a:pPr>
            <a:r>
              <a:rPr lang="en">
                <a:solidFill>
                  <a:schemeClr val="lt1"/>
                </a:solidFill>
                <a:latin typeface="Lora Medium"/>
                <a:ea typeface="Lora Medium"/>
                <a:cs typeface="Lora Medium"/>
                <a:sym typeface="Lora Medium"/>
              </a:rPr>
              <a:t>Sanika : Simulation and analysis of the morphologically complex motifs</a:t>
            </a:r>
            <a:endParaRPr>
              <a:solidFill>
                <a:schemeClr val="lt1"/>
              </a:solidFill>
              <a:latin typeface="Lora Medium"/>
              <a:ea typeface="Lora Medium"/>
              <a:cs typeface="Lora Medium"/>
              <a:sym typeface="Lora Medium"/>
            </a:endParaRPr>
          </a:p>
          <a:p>
            <a:pPr indent="0" lvl="0" marL="0" rtl="0" algn="l">
              <a:lnSpc>
                <a:spcPct val="150000"/>
              </a:lnSpc>
              <a:spcBef>
                <a:spcPts val="0"/>
              </a:spcBef>
              <a:spcAft>
                <a:spcPts val="0"/>
              </a:spcAft>
              <a:buClr>
                <a:schemeClr val="dk1"/>
              </a:buClr>
              <a:buSzPct val="52381"/>
              <a:buFont typeface="Arial"/>
              <a:buNone/>
            </a:pPr>
            <a:r>
              <a:rPr lang="en">
                <a:solidFill>
                  <a:schemeClr val="lt1"/>
                </a:solidFill>
                <a:latin typeface="Lora Medium"/>
                <a:ea typeface="Lora Medium"/>
                <a:cs typeface="Lora Medium"/>
                <a:sym typeface="Lora Medium"/>
              </a:rPr>
              <a:t>Shraddha : Modelling, Simulation</a:t>
            </a:r>
            <a:endParaRPr>
              <a:solidFill>
                <a:schemeClr val="lt1"/>
              </a:solidFill>
              <a:latin typeface="Lora Medium"/>
              <a:ea typeface="Lora Medium"/>
              <a:cs typeface="Lora Medium"/>
              <a:sym typeface="Lora Medium"/>
            </a:endParaRPr>
          </a:p>
          <a:p>
            <a:pPr indent="0" lvl="0" marL="0" rtl="0" algn="l">
              <a:lnSpc>
                <a:spcPct val="150000"/>
              </a:lnSpc>
              <a:spcBef>
                <a:spcPts val="0"/>
              </a:spcBef>
              <a:spcAft>
                <a:spcPts val="0"/>
              </a:spcAft>
              <a:buNone/>
            </a:pPr>
            <a:r>
              <a:t/>
            </a:r>
            <a:endParaRPr>
              <a:solidFill>
                <a:schemeClr val="lt1"/>
              </a:solidFill>
              <a:latin typeface="Lora Medium"/>
              <a:ea typeface="Lora Medium"/>
              <a:cs typeface="Lora Medium"/>
              <a:sym typeface="Lora Medium"/>
            </a:endParaRPr>
          </a:p>
          <a:p>
            <a:pPr indent="0" lvl="0" marL="0" rtl="0" algn="l">
              <a:spcBef>
                <a:spcPts val="800"/>
              </a:spcBef>
              <a:spcAft>
                <a:spcPts val="0"/>
              </a:spcAft>
              <a:buNone/>
            </a:pPr>
            <a:r>
              <a:t/>
            </a:r>
            <a:endParaRPr>
              <a:solidFill>
                <a:schemeClr val="lt1"/>
              </a:solidFill>
            </a:endParaRPr>
          </a:p>
        </p:txBody>
      </p:sp>
      <p:cxnSp>
        <p:nvCxnSpPr>
          <p:cNvPr id="312" name="Google Shape;312;p42"/>
          <p:cNvCxnSpPr/>
          <p:nvPr/>
        </p:nvCxnSpPr>
        <p:spPr>
          <a:xfrm flipH="1" rot="10800000">
            <a:off x="667150" y="1042475"/>
            <a:ext cx="3315300" cy="22800"/>
          </a:xfrm>
          <a:prstGeom prst="straightConnector1">
            <a:avLst/>
          </a:prstGeom>
          <a:noFill/>
          <a:ln cap="flat" cmpd="sng" w="76200">
            <a:solidFill>
              <a:schemeClr val="dk2"/>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6" name="Shape 316"/>
        <p:cNvGrpSpPr/>
        <p:nvPr/>
      </p:nvGrpSpPr>
      <p:grpSpPr>
        <a:xfrm>
          <a:off x="0" y="0"/>
          <a:ext cx="0" cy="0"/>
          <a:chOff x="0" y="0"/>
          <a:chExt cx="0" cy="0"/>
        </a:xfrm>
      </p:grpSpPr>
      <p:sp>
        <p:nvSpPr>
          <p:cNvPr id="317" name="Google Shape;317;p4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en"/>
              <a:t>Modeling of  </a:t>
            </a:r>
            <a:endParaRPr/>
          </a:p>
        </p:txBody>
      </p:sp>
      <p:sp>
        <p:nvSpPr>
          <p:cNvPr id="318" name="Google Shape;318;p4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en"/>
              <a:t>Bhalla -&gt; 2000</a:t>
            </a:r>
            <a:endParaRPr/>
          </a:p>
          <a:p>
            <a:pPr indent="-171450" lvl="0" marL="177800" rtl="0" algn="l">
              <a:lnSpc>
                <a:spcPct val="90000"/>
              </a:lnSpc>
              <a:spcBef>
                <a:spcPts val="0"/>
              </a:spcBef>
              <a:spcAft>
                <a:spcPts val="0"/>
              </a:spcAft>
              <a:buClr>
                <a:schemeClr val="dk1"/>
              </a:buClr>
              <a:buSzPts val="2100"/>
              <a:buChar char="•"/>
            </a:pPr>
            <a:r>
              <a:rPr lang="en"/>
              <a:t>Simple model with soma, prim, dend 0 and dend 1</a:t>
            </a:r>
            <a:endParaRPr/>
          </a:p>
          <a:p>
            <a:pPr indent="-171450" lvl="0" marL="177800" rtl="0" algn="l">
              <a:lnSpc>
                <a:spcPct val="90000"/>
              </a:lnSpc>
              <a:spcBef>
                <a:spcPts val="800"/>
              </a:spcBef>
              <a:spcAft>
                <a:spcPts val="0"/>
              </a:spcAft>
              <a:buClr>
                <a:schemeClr val="dk1"/>
              </a:buClr>
              <a:buSzPts val="2100"/>
              <a:buChar char="•"/>
            </a:pPr>
            <a:r>
              <a:rPr lang="en"/>
              <a:t>Passive </a:t>
            </a:r>
            <a:endParaRPr/>
          </a:p>
          <a:p>
            <a:pPr indent="-171450" lvl="0" marL="177800" rtl="0" algn="l">
              <a:lnSpc>
                <a:spcPct val="90000"/>
              </a:lnSpc>
              <a:spcBef>
                <a:spcPts val="800"/>
              </a:spcBef>
              <a:spcAft>
                <a:spcPts val="0"/>
              </a:spcAft>
              <a:buClr>
                <a:schemeClr val="dk1"/>
              </a:buClr>
              <a:buSzPts val="2100"/>
              <a:buChar char="•"/>
            </a:pPr>
            <a:r>
              <a:rPr lang="en"/>
              <a:t>Active</a:t>
            </a:r>
            <a:endParaRPr/>
          </a:p>
          <a:p>
            <a:pPr indent="-171450" lvl="0" marL="177800" rtl="0" algn="l">
              <a:lnSpc>
                <a:spcPct val="90000"/>
              </a:lnSpc>
              <a:spcBef>
                <a:spcPts val="800"/>
              </a:spcBef>
              <a:spcAft>
                <a:spcPts val="0"/>
              </a:spcAft>
              <a:buClr>
                <a:schemeClr val="dk1"/>
              </a:buClr>
              <a:buSzPts val="2100"/>
              <a:buChar char="•"/>
            </a:pPr>
            <a:r>
              <a:rPr lang="en"/>
              <a:t>No B and C connections yet</a:t>
            </a:r>
            <a:endParaRPr/>
          </a:p>
          <a:p>
            <a:pPr indent="-171450" lvl="0" marL="177800" rtl="0" algn="l">
              <a:lnSpc>
                <a:spcPct val="90000"/>
              </a:lnSpc>
              <a:spcBef>
                <a:spcPts val="800"/>
              </a:spcBef>
              <a:spcAft>
                <a:spcPts val="0"/>
              </a:spcAft>
              <a:buClr>
                <a:schemeClr val="dk1"/>
              </a:buClr>
              <a:buSzPts val="2100"/>
              <a:buChar char="•"/>
            </a:pPr>
            <a:r>
              <a:rPr lang="en"/>
              <a:t>Add GC to MC- HH,pass</a:t>
            </a:r>
            <a:endParaRPr/>
          </a:p>
          <a:p>
            <a:pPr indent="-171450" lvl="0" marL="177800" rtl="0" algn="l">
              <a:lnSpc>
                <a:spcPct val="90000"/>
              </a:lnSpc>
              <a:spcBef>
                <a:spcPts val="800"/>
              </a:spcBef>
              <a:spcAft>
                <a:spcPts val="0"/>
              </a:spcAft>
              <a:buClr>
                <a:schemeClr val="dk1"/>
              </a:buClr>
              <a:buSzPts val="2100"/>
              <a:buChar char="•"/>
            </a:pPr>
            <a:r>
              <a:rPr lang="en"/>
              <a:t>Active + GC plots</a:t>
            </a:r>
            <a:endParaRPr/>
          </a:p>
          <a:p>
            <a:pPr indent="-38100" lvl="0" marL="177800" rtl="0" algn="l">
              <a:lnSpc>
                <a:spcPct val="90000"/>
              </a:lnSpc>
              <a:spcBef>
                <a:spcPts val="800"/>
              </a:spcBef>
              <a:spcAft>
                <a:spcPts val="0"/>
              </a:spcAft>
              <a:buClr>
                <a:schemeClr val="dk1"/>
              </a:buClr>
              <a:buSzPts val="21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